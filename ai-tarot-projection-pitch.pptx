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9" d="100"/>
          <a:sy n="99" d="100"/>
        </p:scale>
        <p:origin x="208" y="7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378768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this is a tarot app for skeptics. The pitch in one line: tarot cards as a projective surface, something specific and strange to point at, so the thing you actually wanted to say has an easier route out. The AI reader never predicts; it hands your own words back to you in an order you hadn't tried.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reframe: for the target user, tarot's value is not divination. A strange, specific image is easier to talk through than a blank 'how are you feeling?'. Three design consequences: (1) the app never describes the picture, because a printed description is something to agree with, and agreeing is not projecting; (2) the user's projection is the disclosure, and the reader builds only on their words; (3) talking through a layout keeps the card as a mediating third object, which is what lowers resistance. The deck is a pretext for the conversation the person was already trying to have.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Fact-checked citations, with links:
1) Clinton, E. (2024). Divining the self: Applying tarot as a projective technique in counseling. Educational Specialist project, James Madison University. https://commons.lib.jmu.edu/edspec202029/97/ . The academic twin of this product: secular projective use, the client's interpretation over card tradition, no tarot expertise required. Its projection prompts seed our reader's few-shots.
2) Semetsky, I. (2006). Tarot as a projective technique. Spirituality and Health International, 7(4). https://onlinelibrary.wiley.com/doi/10.1002/shi.252 . Source of the mediated-communication argument, and of our anti-pattern: her case study treats client disagreement as confirmation; our correction-wins rule exists to prevent exactly that.
3) Semetsky, I. (2005). Integrating Tarot readings into counselling and psychotherapy. Spirituality and Health International, 6(2). https://onlinelibrary.wiley.com/doi/10.1002/shi.52 . The 13-of-15 figure is this study's participant outcome, as cited in the repo's research chain via Clinton (2024).
4) White, M. (2007). Maps of Narrative Practice. New York: W. W. Norton. The scaffolding-conversations map: questions climb ordered levels of distance from the known.
5) Ramey, H. L., Young, K., &amp; Tarulli, D. (2010). Scaffolding and concept formation in narrative therapy: A qualitative research report. Journal of Systemic Therapies, 29(4), 74-91. https://guilfordjournals.com/doi/10.1521/jsyt.2010.29.4.74 . Note: the repo plan cites this as Journal of Marital and Family Therapy; the actual venue is Journal of Systemic Therapies.
Lineage: projective techniques in counseling run back through Clark (1995) and Pepinsky (1947), per Clinton's review.</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Flip-gating is the signature mechanic: face-down cards ahead are the incentive made physical. Rhythm per card: flip, your projection, follow-up, next flip. Depth decides, not turn count: a rich answer can flip early, a thin answer gets a softer follow-up instead of a stall, and a fresh disclosure gets dwelled in for one exchange rather than skipped past, because flipping on a disclosure would teach that opening up ends the subject. The fourth card is earned by something of your own, unhedged, on the advice card. Not earned, the closing names it once as an invitation, never as a grade. That line is the return hook.</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Coherence is designed in, not patched on. The anchor is committed after card one, built from the user's own projection: theme, their phrases verbatim, and where the session should land. It is re-stated to the model every turn and declared to outrank the conversation history: constraint, not suggestion. The ledger records every card drawn and every read given; new draws elaborate and never contradict, so spamming a re-draw gets 'the deck answers the same question the same way.' Together they make the deck feel like one narrator with a memory rather than a slot machine.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question engine: five distancing levels from narrative therapy, with a +1 movement rule. The target is one rung above the user's last answer, capped per card position (situation caps at evaluate, obstacle at intentions, advice opens plans). People who jump levels unprompted get met there: followed, never marched. A rail-crossing question targets the current level, because crossing is already the step. A deflection drops the target and the next question comes back smaller. Every rule exists because a transcript showed the failure, and a protocol scanner now flags each violation (level_jump, rail_switch_climb, rail_switch_unsettled). The level trace of a session is a primary A/B metric.</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prompt is assembled in two halves, and the split is load-bearing. readerSystem is the stable prefix: persona, few-shots, standing rules, spread, topic. About 22 KB, identical every turn, which is exactly what a provider can cache (cache_control on Anthropic, automatic prefix caching elsewhere). The turn block is what changes: the session record assembled from state (anchor with the user's verbatim phrases, one line per card, arc position, depth, safety state), the resolved card, the ladder target, and the turn instruction. About 3 KB, sent in the last user message after the transcript. The transcript itself is only the last 10 exchanges, affordable because everything a later turn must stay consistent with lives in the recap block, which is declared to outrank the history: the old turns are texture, not record. Two more properties worth saying out loud: the turn is decided before it is written (turnPlan() returns the turn's decisions as data, and the prose renders from that plan, so rules are testable against data rather than English); and prompts are data, not code: persona, few-shots and packs are static files, so editing a prompt is a file save, with no redeploy and no relay change.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Safety: the flip gate classifies stakes on every answer, before a single card turns. Low: the normal reading, with one quiet onboarding line saying this is reflection, not therapy or crisis support. High (medical, legal, financial): the tarot frame stays but agency is handed back explicitly: 'the cards can help you think; this needs a professional and real information.' Crisis (grief, self-harm): the reader exits the tarot voice entirely, answers plainly, and points at real resources. Correction wins: dispute an observation and the anchor updates with your words; the cold-reading move of treating disagreement as resistance is ruled out by design, and a protocol scanner machine-checks every transcript.
Privacy: no account, no server that remembers you. Three key paths: direct (works where provider CORS allows), your own relay, or the hosted Cloudflare Worker. The key arrives per request in the Authorization header, is used inside that request, and is gone: never stored, never logged, never echoed back, redacted by header name and by value. The Worker has no logging code path at all, not a disabled one, so hosted conversations are unloggable by construction. One 20-assertion contract suite runs against both relays, including a canary key checked against every error branch, and the frontend cannot tell which relay answered. Session state lives client-side only.</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defensible differences against Aluma, TAROGO and Inner Arcana, whose spreads are static pages with chat underneath. Flip-gating is the moat: it changes the incentive structure of the session, since opening up is what turns cards over, and it took the whole narrative-map machinery to make that feel like pacing rather than a paywall. Coherence: competitors patch contradictions with cooldowns; here the anchor and ledger prevent them structurally. Privacy: competitors ask for trust; this hands you three hundred readable lines and a contract test suite. Packs: the whole symbol system (cards, meanings, persona, few-shots) is a data pack, which makes the engine reusable beyond tarot.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Ordered by leverage. Custom decks: packs are pure data, so a Marseille pack proves swappability, a zh-CN variant opens a market, a secular 'reflection cards' pack serves people the tarot frame puts off, and commissioned original art becomes a premium deck. Zodiac: most people who believe in tarot also follow astrology, so a birth-chart layer is a second symbol system on the same engine, and a date-seeded daily card is the ritual hook that brings people back. Memory: familiarity stages, where the reader earns the right to remember across sessions, with an explicit memory screen and export/import, still nothing server-side. Beyond tarot: the engine is deliberately generic; the same core can back a journaling companion or an embeddable reflection chat. Physical-deck mode already shipped: lay your real cards face down, turn them by hand, tell the app what you drew.</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product's own line: the un-earned fourth card is the retention mechanic and the emotional thesis in one sentence. Invite the audience to try a reading with their own key, or with their own physical deck.</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jp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7.jp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3.png"/><Relationship Id="rId7"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15.png"/><Relationship Id="rId10" Type="http://schemas.openxmlformats.org/officeDocument/2006/relationships/image" Target="../media/image19.png"/><Relationship Id="rId4" Type="http://schemas.openxmlformats.org/officeDocument/2006/relationships/image" Target="../media/image14.png"/><Relationship Id="rId9" Type="http://schemas.openxmlformats.org/officeDocument/2006/relationships/image" Target="../media/image18.png"/></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18.png"/><Relationship Id="rId4" Type="http://schemas.openxmlformats.org/officeDocument/2006/relationships/image" Target="../media/image20.png"/></Relationships>
</file>

<file path=ppt/slides/_rels/slide1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11.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31C40"/>
        </a:solidFill>
        <a:effectLst/>
      </p:bgPr>
    </p:bg>
    <p:spTree>
      <p:nvGrpSpPr>
        <p:cNvPr id="1" name=""/>
        <p:cNvGrpSpPr/>
        <p:nvPr/>
      </p:nvGrpSpPr>
      <p:grpSpPr>
        <a:xfrm>
          <a:off x="0" y="0"/>
          <a:ext cx="0" cy="0"/>
          <a:chOff x="0" y="0"/>
          <a:chExt cx="0" cy="0"/>
        </a:xfrm>
      </p:grpSpPr>
      <p:pic>
        <p:nvPicPr>
          <p:cNvPr id="2" name="Image 0" descr="/mnt/user-data/uploads/ai-tarot-projection/data/Cards-jpg/CardBacks.jpg"/>
          <p:cNvPicPr>
            <a:picLocks noChangeAspect="1"/>
          </p:cNvPicPr>
          <p:nvPr/>
        </p:nvPicPr>
        <p:blipFill>
          <a:blip r:embed="rId3"/>
          <a:stretch>
            <a:fillRect/>
          </a:stretch>
        </p:blipFill>
        <p:spPr>
          <a:xfrm rot="21120000">
            <a:off x="7635240" y="1920240"/>
            <a:ext cx="1874520" cy="3291840"/>
          </a:xfrm>
          <a:prstGeom prst="rect">
            <a:avLst/>
          </a:prstGeom>
        </p:spPr>
      </p:pic>
      <p:pic>
        <p:nvPicPr>
          <p:cNvPr id="3" name="Image 1" descr="/mnt/user-data/uploads/ai-tarot-projection/data/Cards-jpg/CardBacks.jpg"/>
          <p:cNvPicPr>
            <a:picLocks noChangeAspect="1"/>
          </p:cNvPicPr>
          <p:nvPr/>
        </p:nvPicPr>
        <p:blipFill>
          <a:blip r:embed="rId3"/>
          <a:stretch>
            <a:fillRect/>
          </a:stretch>
        </p:blipFill>
        <p:spPr>
          <a:xfrm>
            <a:off x="8732520" y="1737360"/>
            <a:ext cx="1874520" cy="3291840"/>
          </a:xfrm>
          <a:prstGeom prst="rect">
            <a:avLst/>
          </a:prstGeom>
        </p:spPr>
      </p:pic>
      <p:pic>
        <p:nvPicPr>
          <p:cNvPr id="4" name="Image 2" descr="/mnt/user-data/uploads/ai-tarot-projection/data/Cards-jpg/CardBacks.jpg"/>
          <p:cNvPicPr>
            <a:picLocks noChangeAspect="1"/>
          </p:cNvPicPr>
          <p:nvPr/>
        </p:nvPicPr>
        <p:blipFill>
          <a:blip r:embed="rId3"/>
          <a:stretch>
            <a:fillRect/>
          </a:stretch>
        </p:blipFill>
        <p:spPr>
          <a:xfrm rot="480000">
            <a:off x="9829800" y="1920240"/>
            <a:ext cx="1874520" cy="3291840"/>
          </a:xfrm>
          <a:prstGeom prst="rect">
            <a:avLst/>
          </a:prstGeom>
        </p:spPr>
      </p:pic>
      <p:sp>
        <p:nvSpPr>
          <p:cNvPr id="5" name="Text 0"/>
          <p:cNvSpPr txBox="1"/>
          <p:nvPr/>
        </p:nvSpPr>
        <p:spPr>
          <a:xfrm>
            <a:off x="822960" y="1828800"/>
            <a:ext cx="6583680" cy="365760"/>
          </a:xfrm>
          <a:prstGeom prst="rect">
            <a:avLst/>
          </a:prstGeom>
          <a:noFill/>
          <a:ln/>
        </p:spPr>
        <p:txBody>
          <a:bodyPr wrap="square" lIns="0" tIns="0" rIns="0" bIns="0" rtlCol="0" anchor="ctr"/>
          <a:lstStyle/>
          <a:p>
            <a:pPr marL="0" indent="0">
              <a:buNone/>
            </a:pPr>
            <a:r>
              <a:rPr lang="en-US" sz="1400" b="1" kern="0" spc="400" dirty="0">
                <a:solidFill>
                  <a:srgbClr val="D9B45E"/>
                </a:solidFill>
                <a:latin typeface="Calibri" pitchFamily="34" charset="0"/>
                <a:ea typeface="Calibri" pitchFamily="34" charset="-122"/>
                <a:cs typeface="Calibri" pitchFamily="34" charset="-120"/>
              </a:rPr>
              <a:t>AI TAROT PROJECTION</a:t>
            </a:r>
            <a:endParaRPr lang="en-US" sz="1400" dirty="0"/>
          </a:p>
        </p:txBody>
      </p:sp>
      <p:sp>
        <p:nvSpPr>
          <p:cNvPr id="6" name="Text 1"/>
          <p:cNvSpPr txBox="1"/>
          <p:nvPr/>
        </p:nvSpPr>
        <p:spPr>
          <a:xfrm>
            <a:off x="822960" y="2240280"/>
            <a:ext cx="6858000" cy="1828800"/>
          </a:xfrm>
          <a:prstGeom prst="rect">
            <a:avLst/>
          </a:prstGeom>
          <a:noFill/>
          <a:ln/>
        </p:spPr>
        <p:txBody>
          <a:bodyPr wrap="square" lIns="0" tIns="0" rIns="0" bIns="0" rtlCol="0" anchor="ctr"/>
          <a:lstStyle/>
          <a:p>
            <a:pPr marL="0" indent="0">
              <a:lnSpc>
                <a:spcPct val="105000"/>
              </a:lnSpc>
              <a:buNone/>
            </a:pPr>
            <a:r>
              <a:rPr lang="en-US" sz="3600" b="1" dirty="0">
                <a:solidFill>
                  <a:srgbClr val="FFFFFF"/>
                </a:solidFill>
                <a:latin typeface="Cambria" pitchFamily="34" charset="0"/>
                <a:ea typeface="Cambria" pitchFamily="34" charset="-122"/>
                <a:cs typeface="Cambria" pitchFamily="34" charset="-120"/>
              </a:rPr>
              <a:t>For people who believe in thinking out loud.</a:t>
            </a:r>
            <a:endParaRPr lang="en-US" sz="3600" dirty="0"/>
          </a:p>
        </p:txBody>
      </p:sp>
      <p:sp>
        <p:nvSpPr>
          <p:cNvPr id="7" name="Text 2"/>
          <p:cNvSpPr txBox="1"/>
          <p:nvPr/>
        </p:nvSpPr>
        <p:spPr>
          <a:xfrm>
            <a:off x="822960" y="4206240"/>
            <a:ext cx="6309360" cy="548640"/>
          </a:xfrm>
          <a:prstGeom prst="rect">
            <a:avLst/>
          </a:prstGeom>
          <a:noFill/>
          <a:ln/>
        </p:spPr>
        <p:txBody>
          <a:bodyPr wrap="square" lIns="0" tIns="0" rIns="0" bIns="0" rtlCol="0" anchor="ctr"/>
          <a:lstStyle/>
          <a:p>
            <a:pPr marL="0" indent="0">
              <a:buNone/>
            </a:pPr>
            <a:r>
              <a:rPr lang="en-US" sz="1700" i="1" dirty="0">
                <a:solidFill>
                  <a:srgbClr val="A79FC4"/>
                </a:solidFill>
                <a:latin typeface="Calibri" pitchFamily="34" charset="0"/>
                <a:ea typeface="Calibri" pitchFamily="34" charset="-122"/>
                <a:cs typeface="Calibri" pitchFamily="34" charset="-120"/>
              </a:rPr>
              <a:t>The cards never predict. They get you talking.</a:t>
            </a:r>
            <a:endParaRPr lang="en-US" sz="1700" dirty="0"/>
          </a:p>
        </p:txBody>
      </p:sp>
      <p:sp>
        <p:nvSpPr>
          <p:cNvPr id="8" name="Text 3"/>
          <p:cNvSpPr txBox="1"/>
          <p:nvPr/>
        </p:nvSpPr>
        <p:spPr>
          <a:xfrm>
            <a:off x="822960" y="5943600"/>
            <a:ext cx="6858000" cy="365760"/>
          </a:xfrm>
          <a:prstGeom prst="rect">
            <a:avLst/>
          </a:prstGeom>
          <a:noFill/>
          <a:ln/>
        </p:spPr>
        <p:txBody>
          <a:bodyPr wrap="square" lIns="0" tIns="0" rIns="0" bIns="0" rtlCol="0" anchor="ctr"/>
          <a:lstStyle/>
          <a:p>
            <a:pPr marL="0" indent="0">
              <a:buNone/>
            </a:pPr>
            <a:r>
              <a:rPr lang="en-US" sz="1300" dirty="0">
                <a:solidFill>
                  <a:srgbClr val="D9B45E"/>
                </a:solidFill>
                <a:latin typeface="Calibri" pitchFamily="34" charset="0"/>
                <a:ea typeface="Calibri" pitchFamily="34" charset="-122"/>
                <a:cs typeface="Calibri" pitchFamily="34" charset="-120"/>
              </a:rPr>
              <a:t>Runs on your own API key   ·   open source   ·   stores nothing, anywhere</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11480"/>
            <a:ext cx="8229600" cy="320040"/>
          </a:xfrm>
          <a:prstGeom prst="rect">
            <a:avLst/>
          </a:prstGeom>
          <a:noFill/>
          <a:ln/>
        </p:spPr>
        <p:txBody>
          <a:bodyPr wrap="square" lIns="0" tIns="0" rIns="0" bIns="0" rtlCol="0" anchor="ctr"/>
          <a:lstStyle/>
          <a:p>
            <a:pPr marL="0" indent="0" algn="l">
              <a:buNone/>
            </a:pPr>
            <a:r>
              <a:rPr lang="en-US" sz="1300" b="1" kern="0" spc="300" dirty="0">
                <a:solidFill>
                  <a:srgbClr val="8A6C1E"/>
                </a:solidFill>
                <a:latin typeface="Calibri" pitchFamily="34" charset="0"/>
                <a:ea typeface="Calibri" pitchFamily="34" charset="-122"/>
                <a:cs typeface="Calibri" pitchFamily="34" charset="-120"/>
              </a:rPr>
              <a:t>THE IDEA</a:t>
            </a:r>
            <a:endParaRPr lang="en-US" sz="1300" dirty="0"/>
          </a:p>
        </p:txBody>
      </p:sp>
      <p:sp>
        <p:nvSpPr>
          <p:cNvPr id="3" name="Text 1"/>
          <p:cNvSpPr txBox="1"/>
          <p:nvPr/>
        </p:nvSpPr>
        <p:spPr>
          <a:xfrm>
            <a:off x="640080" y="731520"/>
            <a:ext cx="10881360" cy="868680"/>
          </a:xfrm>
          <a:prstGeom prst="rect">
            <a:avLst/>
          </a:prstGeom>
          <a:noFill/>
          <a:ln/>
        </p:spPr>
        <p:txBody>
          <a:bodyPr wrap="square" lIns="0" tIns="0" rIns="0" bIns="0" rtlCol="0" anchor="ctr"/>
          <a:lstStyle/>
          <a:p>
            <a:pPr marL="0" indent="0" algn="l">
              <a:buNone/>
            </a:pPr>
            <a:r>
              <a:rPr lang="en-US" sz="3600" b="1" dirty="0">
                <a:solidFill>
                  <a:srgbClr val="2B2545"/>
                </a:solidFill>
                <a:latin typeface="Cambria" pitchFamily="34" charset="0"/>
                <a:ea typeface="Cambria" pitchFamily="34" charset="-122"/>
                <a:cs typeface="Cambria" pitchFamily="34" charset="-120"/>
              </a:rPr>
              <a:t>A projective surface, not a fortune</a:t>
            </a:r>
            <a:endParaRPr lang="en-US" sz="3600" dirty="0"/>
          </a:p>
        </p:txBody>
      </p:sp>
      <p:sp>
        <p:nvSpPr>
          <p:cNvPr id="4" name="Text 2"/>
          <p:cNvSpPr txBox="1"/>
          <p:nvPr/>
        </p:nvSpPr>
        <p:spPr>
          <a:xfrm>
            <a:off x="640080" y="1783080"/>
            <a:ext cx="7040880" cy="914400"/>
          </a:xfrm>
          <a:prstGeom prst="rect">
            <a:avLst/>
          </a:prstGeom>
          <a:noFill/>
          <a:ln/>
        </p:spPr>
        <p:txBody>
          <a:bodyPr wrap="square" lIns="0" tIns="0" rIns="0" bIns="0" rtlCol="0" anchor="ctr"/>
          <a:lstStyle/>
          <a:p>
            <a:pPr marL="0" indent="0">
              <a:lnSpc>
                <a:spcPct val="115000"/>
              </a:lnSpc>
              <a:buNone/>
            </a:pPr>
            <a:r>
              <a:rPr lang="en-US" sz="1600" dirty="0">
                <a:solidFill>
                  <a:srgbClr val="2B2545"/>
                </a:solidFill>
                <a:latin typeface="Calibri" pitchFamily="34" charset="0"/>
                <a:ea typeface="Calibri" pitchFamily="34" charset="-122"/>
                <a:cs typeface="Calibri" pitchFamily="34" charset="-120"/>
              </a:rPr>
              <a:t>Three cards go face down before anything is said. You're asked what you see in the one in front of you. Not what it means: what you see.</a:t>
            </a:r>
            <a:endParaRPr lang="en-US" sz="1600" dirty="0"/>
          </a:p>
        </p:txBody>
      </p:sp>
      <p:sp>
        <p:nvSpPr>
          <p:cNvPr id="5" name="Shape 3"/>
          <p:cNvSpPr/>
          <p:nvPr/>
        </p:nvSpPr>
        <p:spPr>
          <a:xfrm>
            <a:off x="640080" y="3081528"/>
            <a:ext cx="512064" cy="512064"/>
          </a:xfrm>
          <a:prstGeom prst="ellipse">
            <a:avLst/>
          </a:prstGeom>
          <a:solidFill>
            <a:srgbClr val="231C40"/>
          </a:solidFill>
          <a:ln/>
        </p:spPr>
        <p:txBody>
          <a:bodyPr/>
          <a:lstStyle/>
          <a:p>
            <a:endParaRPr lang="en-US"/>
          </a:p>
        </p:txBody>
      </p:sp>
      <p:pic>
        <p:nvPicPr>
          <p:cNvPr id="6" name="Image 0" descr="/home/claude/tarot-deck/icons/eye-gold.png"/>
          <p:cNvPicPr>
            <a:picLocks noChangeAspect="1"/>
          </p:cNvPicPr>
          <p:nvPr/>
        </p:nvPicPr>
        <p:blipFill>
          <a:blip r:embed="rId3"/>
          <a:stretch>
            <a:fillRect/>
          </a:stretch>
        </p:blipFill>
        <p:spPr>
          <a:xfrm>
            <a:off x="768096" y="3209544"/>
            <a:ext cx="256032" cy="256032"/>
          </a:xfrm>
          <a:prstGeom prst="rect">
            <a:avLst/>
          </a:prstGeom>
        </p:spPr>
      </p:pic>
      <p:sp>
        <p:nvSpPr>
          <p:cNvPr id="7" name="Text 4"/>
          <p:cNvSpPr txBox="1"/>
          <p:nvPr/>
        </p:nvSpPr>
        <p:spPr>
          <a:xfrm>
            <a:off x="1371600" y="3063240"/>
            <a:ext cx="6309360" cy="914400"/>
          </a:xfrm>
          <a:prstGeom prst="rect">
            <a:avLst/>
          </a:prstGeom>
          <a:noFill/>
          <a:ln/>
        </p:spPr>
        <p:txBody>
          <a:bodyPr wrap="square" lIns="0" tIns="0" rIns="0" bIns="0" rtlCol="0" anchor="t"/>
          <a:lstStyle/>
          <a:p>
            <a:pPr marL="0" indent="0" algn="l">
              <a:lnSpc>
                <a:spcPct val="110000"/>
              </a:lnSpc>
              <a:buNone/>
            </a:pPr>
            <a:r>
              <a:rPr lang="en-US" sz="1700" b="1" dirty="0">
                <a:solidFill>
                  <a:srgbClr val="2B2545"/>
                </a:solidFill>
                <a:latin typeface="Calibri" pitchFamily="34" charset="0"/>
                <a:ea typeface="Calibri" pitchFamily="34" charset="-122"/>
                <a:cs typeface="Calibri" pitchFamily="34" charset="-120"/>
              </a:rPr>
              <a:t>Projection, not prediction</a:t>
            </a:r>
            <a:endParaRPr lang="en-US" sz="1700" dirty="0"/>
          </a:p>
          <a:p>
            <a:pPr marL="0" indent="0" algn="l">
              <a:lnSpc>
                <a:spcPct val="110000"/>
              </a:lnSpc>
              <a:buNone/>
            </a:pPr>
            <a:r>
              <a:rPr lang="en-US" sz="1400" dirty="0">
                <a:solidFill>
                  <a:srgbClr val="5E5678"/>
                </a:solidFill>
                <a:latin typeface="Calibri" pitchFamily="34" charset="0"/>
                <a:ea typeface="Calibri" pitchFamily="34" charset="-122"/>
                <a:cs typeface="Calibri" pitchFamily="34" charset="-120"/>
              </a:rPr>
              <a:t>A flip shows the card's name, never a caption.</a:t>
            </a:r>
            <a:endParaRPr lang="en-US" sz="1700" dirty="0"/>
          </a:p>
        </p:txBody>
      </p:sp>
      <p:sp>
        <p:nvSpPr>
          <p:cNvPr id="8" name="Shape 5"/>
          <p:cNvSpPr/>
          <p:nvPr/>
        </p:nvSpPr>
        <p:spPr>
          <a:xfrm>
            <a:off x="640080" y="4160520"/>
            <a:ext cx="512064" cy="512064"/>
          </a:xfrm>
          <a:prstGeom prst="ellipse">
            <a:avLst/>
          </a:prstGeom>
          <a:solidFill>
            <a:srgbClr val="231C40"/>
          </a:solidFill>
          <a:ln/>
        </p:spPr>
        <p:txBody>
          <a:bodyPr/>
          <a:lstStyle/>
          <a:p>
            <a:endParaRPr lang="en-US"/>
          </a:p>
        </p:txBody>
      </p:sp>
      <p:pic>
        <p:nvPicPr>
          <p:cNvPr id="9" name="Image 1" descr="/home/claude/tarot-deck/icons/message-gold.png"/>
          <p:cNvPicPr>
            <a:picLocks noChangeAspect="1"/>
          </p:cNvPicPr>
          <p:nvPr/>
        </p:nvPicPr>
        <p:blipFill>
          <a:blip r:embed="rId4"/>
          <a:stretch>
            <a:fillRect/>
          </a:stretch>
        </p:blipFill>
        <p:spPr>
          <a:xfrm>
            <a:off x="768096" y="4288536"/>
            <a:ext cx="256032" cy="256032"/>
          </a:xfrm>
          <a:prstGeom prst="rect">
            <a:avLst/>
          </a:prstGeom>
        </p:spPr>
      </p:pic>
      <p:sp>
        <p:nvSpPr>
          <p:cNvPr id="10" name="Text 6"/>
          <p:cNvSpPr txBox="1"/>
          <p:nvPr/>
        </p:nvSpPr>
        <p:spPr>
          <a:xfrm>
            <a:off x="1371600" y="4142232"/>
            <a:ext cx="6309360" cy="914400"/>
          </a:xfrm>
          <a:prstGeom prst="rect">
            <a:avLst/>
          </a:prstGeom>
          <a:noFill/>
          <a:ln/>
        </p:spPr>
        <p:txBody>
          <a:bodyPr wrap="square" lIns="0" tIns="0" rIns="0" bIns="0" rtlCol="0" anchor="t"/>
          <a:lstStyle/>
          <a:p>
            <a:pPr marL="0" indent="0" algn="l">
              <a:lnSpc>
                <a:spcPct val="110000"/>
              </a:lnSpc>
              <a:buNone/>
            </a:pPr>
            <a:r>
              <a:rPr lang="en-US" sz="1700" b="1" dirty="0">
                <a:solidFill>
                  <a:srgbClr val="2B2545"/>
                </a:solidFill>
                <a:latin typeface="Calibri" pitchFamily="34" charset="0"/>
                <a:ea typeface="Calibri" pitchFamily="34" charset="-122"/>
                <a:cs typeface="Calibri" pitchFamily="34" charset="-120"/>
              </a:rPr>
              <a:t>You always speak first</a:t>
            </a:r>
            <a:endParaRPr lang="en-US" sz="1700" dirty="0"/>
          </a:p>
          <a:p>
            <a:pPr marL="0" indent="0" algn="l">
              <a:lnSpc>
                <a:spcPct val="110000"/>
              </a:lnSpc>
              <a:buNone/>
            </a:pPr>
            <a:r>
              <a:rPr lang="en-US" sz="1400" dirty="0">
                <a:solidFill>
                  <a:srgbClr val="5E5678"/>
                </a:solidFill>
                <a:latin typeface="Calibri" pitchFamily="34" charset="0"/>
                <a:ea typeface="Calibri" pitchFamily="34" charset="-122"/>
                <a:cs typeface="Calibri" pitchFamily="34" charset="-120"/>
              </a:rPr>
              <a:t>What you see in the picture becomes the conversation.</a:t>
            </a:r>
            <a:endParaRPr lang="en-US" sz="1700" dirty="0"/>
          </a:p>
        </p:txBody>
      </p:sp>
      <p:sp>
        <p:nvSpPr>
          <p:cNvPr id="11" name="Shape 7"/>
          <p:cNvSpPr/>
          <p:nvPr/>
        </p:nvSpPr>
        <p:spPr>
          <a:xfrm>
            <a:off x="640080" y="5239512"/>
            <a:ext cx="512064" cy="512064"/>
          </a:xfrm>
          <a:prstGeom prst="ellipse">
            <a:avLst/>
          </a:prstGeom>
          <a:solidFill>
            <a:srgbClr val="231C40"/>
          </a:solidFill>
          <a:ln/>
        </p:spPr>
        <p:txBody>
          <a:bodyPr/>
          <a:lstStyle/>
          <a:p>
            <a:endParaRPr lang="en-US"/>
          </a:p>
        </p:txBody>
      </p:sp>
      <p:pic>
        <p:nvPicPr>
          <p:cNvPr id="12" name="Image 2" descr="/home/claude/tarot-deck/icons/layers-gold.png"/>
          <p:cNvPicPr>
            <a:picLocks noChangeAspect="1"/>
          </p:cNvPicPr>
          <p:nvPr/>
        </p:nvPicPr>
        <p:blipFill>
          <a:blip r:embed="rId5"/>
          <a:stretch>
            <a:fillRect/>
          </a:stretch>
        </p:blipFill>
        <p:spPr>
          <a:xfrm>
            <a:off x="768096" y="5367528"/>
            <a:ext cx="256032" cy="256032"/>
          </a:xfrm>
          <a:prstGeom prst="rect">
            <a:avLst/>
          </a:prstGeom>
        </p:spPr>
      </p:pic>
      <p:sp>
        <p:nvSpPr>
          <p:cNvPr id="13" name="Text 8"/>
          <p:cNvSpPr txBox="1"/>
          <p:nvPr/>
        </p:nvSpPr>
        <p:spPr>
          <a:xfrm>
            <a:off x="1371600" y="5221224"/>
            <a:ext cx="6309360" cy="914400"/>
          </a:xfrm>
          <a:prstGeom prst="rect">
            <a:avLst/>
          </a:prstGeom>
          <a:noFill/>
          <a:ln/>
        </p:spPr>
        <p:txBody>
          <a:bodyPr wrap="square" lIns="0" tIns="0" rIns="0" bIns="0" rtlCol="0" anchor="t"/>
          <a:lstStyle/>
          <a:p>
            <a:pPr marL="0" indent="0" algn="l">
              <a:lnSpc>
                <a:spcPct val="110000"/>
              </a:lnSpc>
              <a:buNone/>
            </a:pPr>
            <a:r>
              <a:rPr lang="en-US" sz="1700" b="1" dirty="0">
                <a:solidFill>
                  <a:srgbClr val="2B2545"/>
                </a:solidFill>
                <a:latin typeface="Calibri" pitchFamily="34" charset="0"/>
                <a:ea typeface="Calibri" pitchFamily="34" charset="-122"/>
                <a:cs typeface="Calibri" pitchFamily="34" charset="-120"/>
              </a:rPr>
              <a:t>The card is the third object in the room</a:t>
            </a:r>
            <a:endParaRPr lang="en-US" sz="1700" dirty="0"/>
          </a:p>
          <a:p>
            <a:pPr marL="0" indent="0" algn="l">
              <a:lnSpc>
                <a:spcPct val="110000"/>
              </a:lnSpc>
              <a:buNone/>
            </a:pPr>
            <a:r>
              <a:rPr lang="en-US" sz="1400" dirty="0">
                <a:solidFill>
                  <a:srgbClr val="5E5678"/>
                </a:solidFill>
                <a:latin typeface="Calibri" pitchFamily="34" charset="0"/>
                <a:ea typeface="Calibri" pitchFamily="34" charset="-122"/>
                <a:cs typeface="Calibri" pitchFamily="34" charset="-120"/>
              </a:rPr>
              <a:t>Pointing at a picture beats “I've been a bit off lately.”</a:t>
            </a:r>
            <a:endParaRPr lang="en-US" sz="1700" dirty="0"/>
          </a:p>
        </p:txBody>
      </p:sp>
      <p:pic>
        <p:nvPicPr>
          <p:cNvPr id="14" name="Image 3" descr="/mnt/user-data/uploads/ai-tarot-projection/data/Cards-jpg/18-TheMoon.jpg"/>
          <p:cNvPicPr>
            <a:picLocks noChangeAspect="1"/>
          </p:cNvPicPr>
          <p:nvPr/>
        </p:nvPicPr>
        <p:blipFill>
          <a:blip r:embed="rId6"/>
          <a:stretch>
            <a:fillRect/>
          </a:stretch>
        </p:blipFill>
        <p:spPr>
          <a:xfrm>
            <a:off x="8549640" y="1600200"/>
            <a:ext cx="2377440" cy="4178808"/>
          </a:xfrm>
          <a:prstGeom prst="rect">
            <a:avLst/>
          </a:prstGeom>
        </p:spPr>
      </p:pic>
      <p:sp>
        <p:nvSpPr>
          <p:cNvPr id="15" name="Text 9"/>
          <p:cNvSpPr txBox="1"/>
          <p:nvPr/>
        </p:nvSpPr>
        <p:spPr>
          <a:xfrm>
            <a:off x="8229600" y="5897880"/>
            <a:ext cx="3017520" cy="274320"/>
          </a:xfrm>
          <a:prstGeom prst="rect">
            <a:avLst/>
          </a:prstGeom>
          <a:noFill/>
          <a:ln/>
        </p:spPr>
        <p:txBody>
          <a:bodyPr wrap="square" lIns="0" tIns="0" rIns="0" bIns="0" rtlCol="0" anchor="ctr"/>
          <a:lstStyle/>
          <a:p>
            <a:pPr marL="0" indent="0" algn="ctr">
              <a:buNone/>
            </a:pPr>
            <a:r>
              <a:rPr lang="en-US" sz="1100" dirty="0">
                <a:solidFill>
                  <a:srgbClr val="5E5678"/>
                </a:solidFill>
                <a:latin typeface="Calibri" pitchFamily="34" charset="0"/>
                <a:ea typeface="Calibri" pitchFamily="34" charset="-122"/>
                <a:cs typeface="Calibri" pitchFamily="34" charset="-120"/>
              </a:rPr>
              <a:t>Smith-Waite 1909 · public-domain scans</a:t>
            </a:r>
            <a:endParaRPr lang="en-US" sz="1100" dirty="0"/>
          </a:p>
        </p:txBody>
      </p:sp>
      <p:sp>
        <p:nvSpPr>
          <p:cNvPr id="16" name="Text 10"/>
          <p:cNvSpPr txBox="1"/>
          <p:nvPr/>
        </p:nvSpPr>
        <p:spPr>
          <a:xfrm>
            <a:off x="9262872" y="6473952"/>
            <a:ext cx="2377440" cy="274320"/>
          </a:xfrm>
          <a:prstGeom prst="rect">
            <a:avLst/>
          </a:prstGeom>
          <a:noFill/>
          <a:ln/>
        </p:spPr>
        <p:txBody>
          <a:bodyPr wrap="square" lIns="0" tIns="0" rIns="0" bIns="0" rtlCol="0" anchor="ctr"/>
          <a:lstStyle/>
          <a:p>
            <a:pPr marL="0" indent="0" algn="r">
              <a:buNone/>
            </a:pPr>
            <a:r>
              <a:rPr lang="en-US" sz="1000" dirty="0">
                <a:solidFill>
                  <a:srgbClr val="5E5678"/>
                </a:solidFill>
                <a:latin typeface="Calibri" pitchFamily="34" charset="0"/>
                <a:ea typeface="Calibri" pitchFamily="34" charset="-122"/>
                <a:cs typeface="Calibri" pitchFamily="34" charset="-120"/>
              </a:rPr>
              <a:t>AI Tarot Projection  ·  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11480"/>
            <a:ext cx="8229600" cy="320040"/>
          </a:xfrm>
          <a:prstGeom prst="rect">
            <a:avLst/>
          </a:prstGeom>
          <a:noFill/>
          <a:ln/>
        </p:spPr>
        <p:txBody>
          <a:bodyPr wrap="square" lIns="0" tIns="0" rIns="0" bIns="0" rtlCol="0" anchor="ctr"/>
          <a:lstStyle/>
          <a:p>
            <a:pPr marL="0" indent="0" algn="l">
              <a:buNone/>
            </a:pPr>
            <a:r>
              <a:rPr lang="en-US" sz="1300" b="1" kern="0" spc="300" dirty="0">
                <a:solidFill>
                  <a:srgbClr val="8A6C1E"/>
                </a:solidFill>
                <a:latin typeface="Calibri" pitchFamily="34" charset="0"/>
                <a:ea typeface="Calibri" pitchFamily="34" charset="-122"/>
                <a:cs typeface="Calibri" pitchFamily="34" charset="-120"/>
              </a:rPr>
              <a:t>GROUNDINGS</a:t>
            </a:r>
            <a:endParaRPr lang="en-US" sz="1300" dirty="0"/>
          </a:p>
        </p:txBody>
      </p:sp>
      <p:sp>
        <p:nvSpPr>
          <p:cNvPr id="3" name="Text 1"/>
          <p:cNvSpPr txBox="1"/>
          <p:nvPr/>
        </p:nvSpPr>
        <p:spPr>
          <a:xfrm>
            <a:off x="640080" y="731520"/>
            <a:ext cx="10881360" cy="868680"/>
          </a:xfrm>
          <a:prstGeom prst="rect">
            <a:avLst/>
          </a:prstGeom>
          <a:noFill/>
          <a:ln/>
        </p:spPr>
        <p:txBody>
          <a:bodyPr wrap="square" lIns="0" tIns="0" rIns="0" bIns="0" rtlCol="0" anchor="ctr"/>
          <a:lstStyle/>
          <a:p>
            <a:pPr marL="0" indent="0" algn="l">
              <a:buNone/>
            </a:pPr>
            <a:r>
              <a:rPr lang="en-US" sz="3600" b="1" dirty="0">
                <a:solidFill>
                  <a:srgbClr val="2B2545"/>
                </a:solidFill>
                <a:latin typeface="Cambria" pitchFamily="34" charset="0"/>
                <a:ea typeface="Cambria" pitchFamily="34" charset="-122"/>
                <a:cs typeface="Cambria" pitchFamily="34" charset="-120"/>
              </a:rPr>
              <a:t>A studied counseling technique</a:t>
            </a:r>
            <a:endParaRPr lang="en-US" sz="3600" dirty="0"/>
          </a:p>
        </p:txBody>
      </p:sp>
      <p:sp>
        <p:nvSpPr>
          <p:cNvPr id="4" name="Shape 2"/>
          <p:cNvSpPr/>
          <p:nvPr/>
        </p:nvSpPr>
        <p:spPr>
          <a:xfrm>
            <a:off x="640080" y="1783080"/>
            <a:ext cx="2880360" cy="4114800"/>
          </a:xfrm>
          <a:prstGeom prst="roundRect">
            <a:avLst>
              <a:gd name="adj" fmla="val 2540"/>
            </a:avLst>
          </a:prstGeom>
          <a:solidFill>
            <a:srgbClr val="F6F4FB"/>
          </a:solidFill>
          <a:ln w="12700">
            <a:solidFill>
              <a:srgbClr val="E4DFF0"/>
            </a:solidFill>
            <a:prstDash val="solid"/>
          </a:ln>
        </p:spPr>
        <p:txBody>
          <a:bodyPr/>
          <a:lstStyle/>
          <a:p>
            <a:endParaRPr lang="en-US"/>
          </a:p>
        </p:txBody>
      </p:sp>
      <p:sp>
        <p:nvSpPr>
          <p:cNvPr id="5" name="Text 3"/>
          <p:cNvSpPr txBox="1"/>
          <p:nvPr/>
        </p:nvSpPr>
        <p:spPr>
          <a:xfrm>
            <a:off x="868680" y="2286000"/>
            <a:ext cx="2468880" cy="1005840"/>
          </a:xfrm>
          <a:prstGeom prst="rect">
            <a:avLst/>
          </a:prstGeom>
          <a:noFill/>
          <a:ln/>
        </p:spPr>
        <p:txBody>
          <a:bodyPr wrap="square" lIns="0" tIns="0" rIns="0" bIns="0" rtlCol="0" anchor="ctr"/>
          <a:lstStyle/>
          <a:p>
            <a:pPr marL="0" indent="0" algn="ctr">
              <a:buNone/>
            </a:pPr>
            <a:r>
              <a:rPr lang="en-US" sz="6600" b="1" dirty="0">
                <a:solidFill>
                  <a:srgbClr val="8A6C1E"/>
                </a:solidFill>
                <a:latin typeface="Cambria" pitchFamily="34" charset="0"/>
                <a:ea typeface="Cambria" pitchFamily="34" charset="-122"/>
                <a:cs typeface="Cambria" pitchFamily="34" charset="-120"/>
              </a:rPr>
              <a:t>13/15</a:t>
            </a:r>
            <a:endParaRPr lang="en-US" sz="6600" dirty="0"/>
          </a:p>
        </p:txBody>
      </p:sp>
      <p:sp>
        <p:nvSpPr>
          <p:cNvPr id="6" name="Text 4"/>
          <p:cNvSpPr txBox="1"/>
          <p:nvPr/>
        </p:nvSpPr>
        <p:spPr>
          <a:xfrm>
            <a:off x="868680" y="3429000"/>
            <a:ext cx="2423160" cy="1280160"/>
          </a:xfrm>
          <a:prstGeom prst="rect">
            <a:avLst/>
          </a:prstGeom>
          <a:noFill/>
          <a:ln/>
        </p:spPr>
        <p:txBody>
          <a:bodyPr wrap="square" lIns="0" tIns="0" rIns="0" bIns="0" rtlCol="0" anchor="ctr"/>
          <a:lstStyle/>
          <a:p>
            <a:pPr marL="0" indent="0" algn="ctr">
              <a:lnSpc>
                <a:spcPct val="115000"/>
              </a:lnSpc>
              <a:buNone/>
            </a:pPr>
            <a:r>
              <a:rPr lang="en-US" sz="1400" dirty="0">
                <a:solidFill>
                  <a:srgbClr val="2B2545"/>
                </a:solidFill>
                <a:latin typeface="Calibri" pitchFamily="34" charset="0"/>
                <a:ea typeface="Calibri" pitchFamily="34" charset="-122"/>
                <a:cs typeface="Calibri" pitchFamily="34" charset="-120"/>
              </a:rPr>
              <a:t>participants found a single-session reading personally meaningful</a:t>
            </a:r>
            <a:endParaRPr lang="en-US" sz="1400" dirty="0"/>
          </a:p>
        </p:txBody>
      </p:sp>
      <p:sp>
        <p:nvSpPr>
          <p:cNvPr id="7" name="Text 5"/>
          <p:cNvSpPr txBox="1"/>
          <p:nvPr/>
        </p:nvSpPr>
        <p:spPr>
          <a:xfrm>
            <a:off x="868680" y="5212080"/>
            <a:ext cx="2423160" cy="320040"/>
          </a:xfrm>
          <a:prstGeom prst="rect">
            <a:avLst/>
          </a:prstGeom>
          <a:noFill/>
          <a:ln/>
        </p:spPr>
        <p:txBody>
          <a:bodyPr wrap="square" lIns="0" tIns="0" rIns="0" bIns="0" rtlCol="0" anchor="ctr"/>
          <a:lstStyle/>
          <a:p>
            <a:pPr marL="0" indent="0" algn="ctr">
              <a:buNone/>
            </a:pPr>
            <a:r>
              <a:rPr lang="en-US" sz="1200" i="1" dirty="0">
                <a:solidFill>
                  <a:srgbClr val="5E5678"/>
                </a:solidFill>
                <a:latin typeface="Calibri" pitchFamily="34" charset="0"/>
                <a:ea typeface="Calibri" pitchFamily="34" charset="-122"/>
                <a:cs typeface="Calibri" pitchFamily="34" charset="-120"/>
              </a:rPr>
              <a:t>Semetsky, 2005</a:t>
            </a:r>
            <a:endParaRPr lang="en-US" sz="1200" dirty="0"/>
          </a:p>
        </p:txBody>
      </p:sp>
      <p:sp>
        <p:nvSpPr>
          <p:cNvPr id="8" name="Shape 6"/>
          <p:cNvSpPr/>
          <p:nvPr/>
        </p:nvSpPr>
        <p:spPr>
          <a:xfrm>
            <a:off x="3794760" y="1783080"/>
            <a:ext cx="3858768" cy="1984248"/>
          </a:xfrm>
          <a:prstGeom prst="roundRect">
            <a:avLst>
              <a:gd name="adj" fmla="val 3687"/>
            </a:avLst>
          </a:prstGeom>
          <a:solidFill>
            <a:srgbClr val="F6F4FB"/>
          </a:solidFill>
          <a:ln w="12700">
            <a:solidFill>
              <a:srgbClr val="E4DFF0"/>
            </a:solidFill>
            <a:prstDash val="solid"/>
          </a:ln>
        </p:spPr>
        <p:txBody>
          <a:bodyPr/>
          <a:lstStyle/>
          <a:p>
            <a:endParaRPr lang="en-US"/>
          </a:p>
        </p:txBody>
      </p:sp>
      <p:pic>
        <p:nvPicPr>
          <p:cNvPr id="9" name="Image 0" descr="/home/claude/tarot-deck/icons/book-gold.png"/>
          <p:cNvPicPr>
            <a:picLocks noChangeAspect="1"/>
          </p:cNvPicPr>
          <p:nvPr/>
        </p:nvPicPr>
        <p:blipFill>
          <a:blip r:embed="rId3"/>
          <a:stretch>
            <a:fillRect/>
          </a:stretch>
        </p:blipFill>
        <p:spPr>
          <a:xfrm>
            <a:off x="4014216" y="2029968"/>
            <a:ext cx="237744" cy="237744"/>
          </a:xfrm>
          <a:prstGeom prst="rect">
            <a:avLst/>
          </a:prstGeom>
        </p:spPr>
      </p:pic>
      <p:sp>
        <p:nvSpPr>
          <p:cNvPr id="10" name="Text 7"/>
          <p:cNvSpPr txBox="1"/>
          <p:nvPr/>
        </p:nvSpPr>
        <p:spPr>
          <a:xfrm>
            <a:off x="4361688" y="1965960"/>
            <a:ext cx="3081528" cy="365760"/>
          </a:xfrm>
          <a:prstGeom prst="rect">
            <a:avLst/>
          </a:prstGeom>
          <a:noFill/>
          <a:ln/>
        </p:spPr>
        <p:txBody>
          <a:bodyPr wrap="square" lIns="0" tIns="0" rIns="0" bIns="0" rtlCol="0" anchor="ctr"/>
          <a:lstStyle/>
          <a:p>
            <a:pPr marL="0" indent="0">
              <a:buNone/>
            </a:pPr>
            <a:r>
              <a:rPr lang="en-US" sz="1500" b="1" dirty="0">
                <a:solidFill>
                  <a:srgbClr val="2B2545"/>
                </a:solidFill>
                <a:latin typeface="Calibri" pitchFamily="34" charset="0"/>
                <a:ea typeface="Calibri" pitchFamily="34" charset="-122"/>
                <a:cs typeface="Calibri" pitchFamily="34" charset="-120"/>
              </a:rPr>
              <a:t>Clinton (2024)</a:t>
            </a:r>
            <a:endParaRPr lang="en-US" sz="1500" dirty="0"/>
          </a:p>
        </p:txBody>
      </p:sp>
      <p:sp>
        <p:nvSpPr>
          <p:cNvPr id="11" name="Text 8"/>
          <p:cNvSpPr txBox="1"/>
          <p:nvPr/>
        </p:nvSpPr>
        <p:spPr>
          <a:xfrm>
            <a:off x="4014216" y="2441448"/>
            <a:ext cx="3419856" cy="1161288"/>
          </a:xfrm>
          <a:prstGeom prst="rect">
            <a:avLst/>
          </a:prstGeom>
          <a:noFill/>
          <a:ln/>
        </p:spPr>
        <p:txBody>
          <a:bodyPr wrap="square" lIns="0" tIns="0" rIns="0" bIns="0" rtlCol="0" anchor="ctr"/>
          <a:lstStyle/>
          <a:p>
            <a:pPr marL="0" indent="0">
              <a:lnSpc>
                <a:spcPct val="112000"/>
              </a:lnSpc>
              <a:buNone/>
            </a:pPr>
            <a:r>
              <a:rPr lang="en-US" sz="1300" dirty="0">
                <a:solidFill>
                  <a:srgbClr val="5E5678"/>
                </a:solidFill>
                <a:latin typeface="Calibri" pitchFamily="34" charset="0"/>
                <a:ea typeface="Calibri" pitchFamily="34" charset="-122"/>
                <a:cs typeface="Calibri" pitchFamily="34" charset="-120"/>
              </a:rPr>
              <a:t>Tarot as a projective technique in counseling: secular, client-led, no expertise required.</a:t>
            </a:r>
            <a:endParaRPr lang="en-US" sz="1300" dirty="0"/>
          </a:p>
        </p:txBody>
      </p:sp>
      <p:sp>
        <p:nvSpPr>
          <p:cNvPr id="12" name="Shape 9"/>
          <p:cNvSpPr/>
          <p:nvPr/>
        </p:nvSpPr>
        <p:spPr>
          <a:xfrm>
            <a:off x="7799832" y="1783080"/>
            <a:ext cx="3858768" cy="1984248"/>
          </a:xfrm>
          <a:prstGeom prst="roundRect">
            <a:avLst>
              <a:gd name="adj" fmla="val 3687"/>
            </a:avLst>
          </a:prstGeom>
          <a:solidFill>
            <a:srgbClr val="F6F4FB"/>
          </a:solidFill>
          <a:ln w="12700">
            <a:solidFill>
              <a:srgbClr val="E4DFF0"/>
            </a:solidFill>
            <a:prstDash val="solid"/>
          </a:ln>
        </p:spPr>
        <p:txBody>
          <a:bodyPr/>
          <a:lstStyle/>
          <a:p>
            <a:endParaRPr lang="en-US"/>
          </a:p>
        </p:txBody>
      </p:sp>
      <p:pic>
        <p:nvPicPr>
          <p:cNvPr id="13" name="Image 1" descr="/home/claude/tarot-deck/icons/book-gold.png"/>
          <p:cNvPicPr>
            <a:picLocks noChangeAspect="1"/>
          </p:cNvPicPr>
          <p:nvPr/>
        </p:nvPicPr>
        <p:blipFill>
          <a:blip r:embed="rId3"/>
          <a:stretch>
            <a:fillRect/>
          </a:stretch>
        </p:blipFill>
        <p:spPr>
          <a:xfrm>
            <a:off x="8019288" y="2029968"/>
            <a:ext cx="237744" cy="237744"/>
          </a:xfrm>
          <a:prstGeom prst="rect">
            <a:avLst/>
          </a:prstGeom>
        </p:spPr>
      </p:pic>
      <p:sp>
        <p:nvSpPr>
          <p:cNvPr id="14" name="Text 10"/>
          <p:cNvSpPr txBox="1"/>
          <p:nvPr/>
        </p:nvSpPr>
        <p:spPr>
          <a:xfrm>
            <a:off x="8366760" y="1965960"/>
            <a:ext cx="3081528" cy="365760"/>
          </a:xfrm>
          <a:prstGeom prst="rect">
            <a:avLst/>
          </a:prstGeom>
          <a:noFill/>
          <a:ln/>
        </p:spPr>
        <p:txBody>
          <a:bodyPr wrap="square" lIns="0" tIns="0" rIns="0" bIns="0" rtlCol="0" anchor="ctr"/>
          <a:lstStyle/>
          <a:p>
            <a:pPr marL="0" indent="0">
              <a:buNone/>
            </a:pPr>
            <a:r>
              <a:rPr lang="en-US" sz="1500" b="1" dirty="0">
                <a:solidFill>
                  <a:srgbClr val="2B2545"/>
                </a:solidFill>
                <a:latin typeface="Calibri" pitchFamily="34" charset="0"/>
                <a:ea typeface="Calibri" pitchFamily="34" charset="-122"/>
                <a:cs typeface="Calibri" pitchFamily="34" charset="-120"/>
              </a:rPr>
              <a:t>Semetsky (2005, 2006)</a:t>
            </a:r>
            <a:endParaRPr lang="en-US" sz="1500" dirty="0"/>
          </a:p>
        </p:txBody>
      </p:sp>
      <p:sp>
        <p:nvSpPr>
          <p:cNvPr id="15" name="Text 11"/>
          <p:cNvSpPr txBox="1"/>
          <p:nvPr/>
        </p:nvSpPr>
        <p:spPr>
          <a:xfrm>
            <a:off x="8019288" y="2441448"/>
            <a:ext cx="3419856" cy="1161288"/>
          </a:xfrm>
          <a:prstGeom prst="rect">
            <a:avLst/>
          </a:prstGeom>
          <a:noFill/>
          <a:ln/>
        </p:spPr>
        <p:txBody>
          <a:bodyPr wrap="square" lIns="0" tIns="0" rIns="0" bIns="0" rtlCol="0" anchor="ctr"/>
          <a:lstStyle/>
          <a:p>
            <a:pPr marL="0" indent="0">
              <a:lnSpc>
                <a:spcPct val="112000"/>
              </a:lnSpc>
              <a:buNone/>
            </a:pPr>
            <a:r>
              <a:rPr lang="en-US" sz="1300" dirty="0">
                <a:solidFill>
                  <a:srgbClr val="5E5678"/>
                </a:solidFill>
                <a:latin typeface="Calibri" pitchFamily="34" charset="0"/>
                <a:ea typeface="Calibri" pitchFamily="34" charset="-122"/>
                <a:cs typeface="Calibri" pitchFamily="34" charset="-120"/>
              </a:rPr>
              <a:t>The layout as a mediating container; talking through it reduces resistance.</a:t>
            </a:r>
            <a:endParaRPr lang="en-US" sz="1300" dirty="0"/>
          </a:p>
        </p:txBody>
      </p:sp>
      <p:sp>
        <p:nvSpPr>
          <p:cNvPr id="16" name="Shape 12"/>
          <p:cNvSpPr/>
          <p:nvPr/>
        </p:nvSpPr>
        <p:spPr>
          <a:xfrm>
            <a:off x="3794760" y="3913632"/>
            <a:ext cx="3858768" cy="1984248"/>
          </a:xfrm>
          <a:prstGeom prst="roundRect">
            <a:avLst>
              <a:gd name="adj" fmla="val 3687"/>
            </a:avLst>
          </a:prstGeom>
          <a:solidFill>
            <a:srgbClr val="F6F4FB"/>
          </a:solidFill>
          <a:ln w="12700">
            <a:solidFill>
              <a:srgbClr val="E4DFF0"/>
            </a:solidFill>
            <a:prstDash val="solid"/>
          </a:ln>
        </p:spPr>
        <p:txBody>
          <a:bodyPr/>
          <a:lstStyle/>
          <a:p>
            <a:endParaRPr lang="en-US"/>
          </a:p>
        </p:txBody>
      </p:sp>
      <p:pic>
        <p:nvPicPr>
          <p:cNvPr id="17" name="Image 2" descr="/home/claude/tarot-deck/icons/book-gold.png"/>
          <p:cNvPicPr>
            <a:picLocks noChangeAspect="1"/>
          </p:cNvPicPr>
          <p:nvPr/>
        </p:nvPicPr>
        <p:blipFill>
          <a:blip r:embed="rId3"/>
          <a:stretch>
            <a:fillRect/>
          </a:stretch>
        </p:blipFill>
        <p:spPr>
          <a:xfrm>
            <a:off x="4014216" y="4160520"/>
            <a:ext cx="237744" cy="237744"/>
          </a:xfrm>
          <a:prstGeom prst="rect">
            <a:avLst/>
          </a:prstGeom>
        </p:spPr>
      </p:pic>
      <p:sp>
        <p:nvSpPr>
          <p:cNvPr id="18" name="Text 13"/>
          <p:cNvSpPr txBox="1"/>
          <p:nvPr/>
        </p:nvSpPr>
        <p:spPr>
          <a:xfrm>
            <a:off x="4361688" y="4096512"/>
            <a:ext cx="3081528" cy="365760"/>
          </a:xfrm>
          <a:prstGeom prst="rect">
            <a:avLst/>
          </a:prstGeom>
          <a:noFill/>
          <a:ln/>
        </p:spPr>
        <p:txBody>
          <a:bodyPr wrap="square" lIns="0" tIns="0" rIns="0" bIns="0" rtlCol="0" anchor="ctr"/>
          <a:lstStyle/>
          <a:p>
            <a:pPr marL="0" indent="0">
              <a:buNone/>
            </a:pPr>
            <a:r>
              <a:rPr lang="en-US" sz="1500" b="1" dirty="0">
                <a:solidFill>
                  <a:srgbClr val="2B2545"/>
                </a:solidFill>
                <a:latin typeface="Calibri" pitchFamily="34" charset="0"/>
                <a:ea typeface="Calibri" pitchFamily="34" charset="-122"/>
                <a:cs typeface="Calibri" pitchFamily="34" charset="-120"/>
              </a:rPr>
              <a:t>White (2007)</a:t>
            </a:r>
            <a:endParaRPr lang="en-US" sz="1500" dirty="0"/>
          </a:p>
        </p:txBody>
      </p:sp>
      <p:sp>
        <p:nvSpPr>
          <p:cNvPr id="19" name="Text 14"/>
          <p:cNvSpPr txBox="1"/>
          <p:nvPr/>
        </p:nvSpPr>
        <p:spPr>
          <a:xfrm>
            <a:off x="4014216" y="4572000"/>
            <a:ext cx="3419856" cy="1161288"/>
          </a:xfrm>
          <a:prstGeom prst="rect">
            <a:avLst/>
          </a:prstGeom>
          <a:noFill/>
          <a:ln/>
        </p:spPr>
        <p:txBody>
          <a:bodyPr wrap="square" lIns="0" tIns="0" rIns="0" bIns="0" rtlCol="0" anchor="ctr"/>
          <a:lstStyle/>
          <a:p>
            <a:pPr marL="0" indent="0">
              <a:lnSpc>
                <a:spcPct val="112000"/>
              </a:lnSpc>
              <a:buNone/>
            </a:pPr>
            <a:r>
              <a:rPr lang="en-US" sz="1300" dirty="0">
                <a:solidFill>
                  <a:srgbClr val="5E5678"/>
                </a:solidFill>
                <a:latin typeface="Calibri" pitchFamily="34" charset="0"/>
                <a:ea typeface="Calibri" pitchFamily="34" charset="-122"/>
                <a:cs typeface="Calibri" pitchFamily="34" charset="-120"/>
              </a:rPr>
              <a:t>Maps of Narrative Practice: the scaffolding map our question engine runs on.</a:t>
            </a:r>
            <a:endParaRPr lang="en-US" sz="1300" dirty="0"/>
          </a:p>
        </p:txBody>
      </p:sp>
      <p:sp>
        <p:nvSpPr>
          <p:cNvPr id="20" name="Shape 15"/>
          <p:cNvSpPr/>
          <p:nvPr/>
        </p:nvSpPr>
        <p:spPr>
          <a:xfrm>
            <a:off x="7799832" y="3913632"/>
            <a:ext cx="3858768" cy="1984248"/>
          </a:xfrm>
          <a:prstGeom prst="roundRect">
            <a:avLst>
              <a:gd name="adj" fmla="val 3687"/>
            </a:avLst>
          </a:prstGeom>
          <a:solidFill>
            <a:srgbClr val="F6F4FB"/>
          </a:solidFill>
          <a:ln w="12700">
            <a:solidFill>
              <a:srgbClr val="E4DFF0"/>
            </a:solidFill>
            <a:prstDash val="solid"/>
          </a:ln>
        </p:spPr>
        <p:txBody>
          <a:bodyPr/>
          <a:lstStyle/>
          <a:p>
            <a:endParaRPr lang="en-US"/>
          </a:p>
        </p:txBody>
      </p:sp>
      <p:pic>
        <p:nvPicPr>
          <p:cNvPr id="21" name="Image 3" descr="/home/claude/tarot-deck/icons/book-gold.png"/>
          <p:cNvPicPr>
            <a:picLocks noChangeAspect="1"/>
          </p:cNvPicPr>
          <p:nvPr/>
        </p:nvPicPr>
        <p:blipFill>
          <a:blip r:embed="rId3"/>
          <a:stretch>
            <a:fillRect/>
          </a:stretch>
        </p:blipFill>
        <p:spPr>
          <a:xfrm>
            <a:off x="8019288" y="4160520"/>
            <a:ext cx="237744" cy="237744"/>
          </a:xfrm>
          <a:prstGeom prst="rect">
            <a:avLst/>
          </a:prstGeom>
        </p:spPr>
      </p:pic>
      <p:sp>
        <p:nvSpPr>
          <p:cNvPr id="22" name="Text 16"/>
          <p:cNvSpPr txBox="1"/>
          <p:nvPr/>
        </p:nvSpPr>
        <p:spPr>
          <a:xfrm>
            <a:off x="8366760" y="4096512"/>
            <a:ext cx="3081528" cy="365760"/>
          </a:xfrm>
          <a:prstGeom prst="rect">
            <a:avLst/>
          </a:prstGeom>
          <a:noFill/>
          <a:ln/>
        </p:spPr>
        <p:txBody>
          <a:bodyPr wrap="square" lIns="0" tIns="0" rIns="0" bIns="0" rtlCol="0" anchor="ctr"/>
          <a:lstStyle/>
          <a:p>
            <a:pPr marL="0" indent="0">
              <a:buNone/>
            </a:pPr>
            <a:r>
              <a:rPr lang="en-US" sz="1500" b="1" dirty="0">
                <a:solidFill>
                  <a:srgbClr val="2B2545"/>
                </a:solidFill>
                <a:latin typeface="Calibri" pitchFamily="34" charset="0"/>
                <a:ea typeface="Calibri" pitchFamily="34" charset="-122"/>
                <a:cs typeface="Calibri" pitchFamily="34" charset="-120"/>
              </a:rPr>
              <a:t>Ramey, Young &amp; Tarulli (2010)</a:t>
            </a:r>
            <a:endParaRPr lang="en-US" sz="1500" dirty="0"/>
          </a:p>
        </p:txBody>
      </p:sp>
      <p:sp>
        <p:nvSpPr>
          <p:cNvPr id="23" name="Text 17"/>
          <p:cNvSpPr txBox="1"/>
          <p:nvPr/>
        </p:nvSpPr>
        <p:spPr>
          <a:xfrm>
            <a:off x="8019288" y="4572000"/>
            <a:ext cx="3419856" cy="1161288"/>
          </a:xfrm>
          <a:prstGeom prst="rect">
            <a:avLst/>
          </a:prstGeom>
          <a:noFill/>
          <a:ln/>
        </p:spPr>
        <p:txBody>
          <a:bodyPr wrap="square" lIns="0" tIns="0" rIns="0" bIns="0" rtlCol="0" anchor="ctr"/>
          <a:lstStyle/>
          <a:p>
            <a:pPr marL="0" indent="0">
              <a:lnSpc>
                <a:spcPct val="112000"/>
              </a:lnSpc>
              <a:buNone/>
            </a:pPr>
            <a:r>
              <a:rPr lang="en-US" sz="1300" dirty="0">
                <a:solidFill>
                  <a:srgbClr val="5E5678"/>
                </a:solidFill>
                <a:latin typeface="Calibri" pitchFamily="34" charset="0"/>
                <a:ea typeface="Calibri" pitchFamily="34" charset="-122"/>
                <a:cs typeface="Calibri" pitchFamily="34" charset="-120"/>
              </a:rPr>
              <a:t>Vygotsky's zone of proximal development as the mechanism under White's map.</a:t>
            </a:r>
            <a:endParaRPr lang="en-US" sz="1300" dirty="0"/>
          </a:p>
        </p:txBody>
      </p:sp>
      <p:sp>
        <p:nvSpPr>
          <p:cNvPr id="24" name="Text 18"/>
          <p:cNvSpPr txBox="1"/>
          <p:nvPr/>
        </p:nvSpPr>
        <p:spPr>
          <a:xfrm>
            <a:off x="640080" y="6080760"/>
            <a:ext cx="10881360" cy="320040"/>
          </a:xfrm>
          <a:prstGeom prst="rect">
            <a:avLst/>
          </a:prstGeom>
          <a:noFill/>
          <a:ln/>
        </p:spPr>
        <p:txBody>
          <a:bodyPr wrap="square" lIns="0" tIns="0" rIns="0" bIns="0" rtlCol="0" anchor="ctr"/>
          <a:lstStyle/>
          <a:p>
            <a:pPr marL="0" indent="0">
              <a:buNone/>
            </a:pPr>
            <a:r>
              <a:rPr lang="en-US" sz="1200" i="1" dirty="0">
                <a:solidFill>
                  <a:srgbClr val="5E5678"/>
                </a:solidFill>
                <a:latin typeface="Calibri" pitchFamily="34" charset="0"/>
                <a:ea typeface="Calibri" pitchFamily="34" charset="-122"/>
                <a:cs typeface="Calibri" pitchFamily="34" charset="-120"/>
              </a:rPr>
              <a:t>Both tarot papers ship in the repo. Full citations and links in the notes.</a:t>
            </a:r>
            <a:endParaRPr lang="en-US" sz="1200" dirty="0"/>
          </a:p>
        </p:txBody>
      </p:sp>
      <p:sp>
        <p:nvSpPr>
          <p:cNvPr id="25" name="Text 19"/>
          <p:cNvSpPr txBox="1"/>
          <p:nvPr/>
        </p:nvSpPr>
        <p:spPr>
          <a:xfrm>
            <a:off x="9262872" y="6473952"/>
            <a:ext cx="2377440" cy="274320"/>
          </a:xfrm>
          <a:prstGeom prst="rect">
            <a:avLst/>
          </a:prstGeom>
          <a:noFill/>
          <a:ln/>
        </p:spPr>
        <p:txBody>
          <a:bodyPr wrap="square" lIns="0" tIns="0" rIns="0" bIns="0" rtlCol="0" anchor="ctr"/>
          <a:lstStyle/>
          <a:p>
            <a:pPr marL="0" indent="0" algn="r">
              <a:buNone/>
            </a:pPr>
            <a:r>
              <a:rPr lang="en-US" sz="1000" dirty="0">
                <a:solidFill>
                  <a:srgbClr val="5E5678"/>
                </a:solidFill>
                <a:latin typeface="Calibri" pitchFamily="34" charset="0"/>
                <a:ea typeface="Calibri" pitchFamily="34" charset="-122"/>
                <a:cs typeface="Calibri" pitchFamily="34" charset="-120"/>
              </a:rPr>
              <a:t>AI Tarot Projection  ·  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11480"/>
            <a:ext cx="8229600" cy="320040"/>
          </a:xfrm>
          <a:prstGeom prst="rect">
            <a:avLst/>
          </a:prstGeom>
          <a:noFill/>
          <a:ln/>
        </p:spPr>
        <p:txBody>
          <a:bodyPr wrap="square" lIns="0" tIns="0" rIns="0" bIns="0" rtlCol="0" anchor="ctr"/>
          <a:lstStyle/>
          <a:p>
            <a:pPr marL="0" indent="0" algn="l">
              <a:buNone/>
            </a:pPr>
            <a:r>
              <a:rPr lang="en-US" sz="1300" b="1" kern="0" spc="300" dirty="0">
                <a:solidFill>
                  <a:srgbClr val="8A6C1E"/>
                </a:solidFill>
                <a:latin typeface="Calibri" pitchFamily="34" charset="0"/>
                <a:ea typeface="Calibri" pitchFamily="34" charset="-122"/>
                <a:cs typeface="Calibri" pitchFamily="34" charset="-120"/>
              </a:rPr>
              <a:t>HOW A READING WORKS</a:t>
            </a:r>
            <a:endParaRPr lang="en-US" sz="1300" dirty="0"/>
          </a:p>
        </p:txBody>
      </p:sp>
      <p:sp>
        <p:nvSpPr>
          <p:cNvPr id="3" name="Text 1"/>
          <p:cNvSpPr txBox="1"/>
          <p:nvPr/>
        </p:nvSpPr>
        <p:spPr>
          <a:xfrm>
            <a:off x="640080" y="731520"/>
            <a:ext cx="10881360" cy="868680"/>
          </a:xfrm>
          <a:prstGeom prst="rect">
            <a:avLst/>
          </a:prstGeom>
          <a:noFill/>
          <a:ln/>
        </p:spPr>
        <p:txBody>
          <a:bodyPr wrap="square" lIns="0" tIns="0" rIns="0" bIns="0" rtlCol="0" anchor="ctr"/>
          <a:lstStyle/>
          <a:p>
            <a:pPr marL="0" indent="0" algn="l">
              <a:buNone/>
            </a:pPr>
            <a:r>
              <a:rPr lang="en-US" sz="3600" b="1" dirty="0">
                <a:solidFill>
                  <a:srgbClr val="2B2545"/>
                </a:solidFill>
                <a:latin typeface="Cambria" pitchFamily="34" charset="0"/>
                <a:ea typeface="Cambria" pitchFamily="34" charset="-122"/>
                <a:cs typeface="Cambria" pitchFamily="34" charset="-120"/>
              </a:rPr>
              <a:t>Cards are earned, not dealt</a:t>
            </a:r>
            <a:endParaRPr lang="en-US" sz="3600" dirty="0"/>
          </a:p>
        </p:txBody>
      </p:sp>
      <p:sp>
        <p:nvSpPr>
          <p:cNvPr id="4" name="Shape 2"/>
          <p:cNvSpPr/>
          <p:nvPr/>
        </p:nvSpPr>
        <p:spPr>
          <a:xfrm>
            <a:off x="640080" y="1965960"/>
            <a:ext cx="2624328" cy="2468880"/>
          </a:xfrm>
          <a:prstGeom prst="roundRect">
            <a:avLst>
              <a:gd name="adj" fmla="val 2963"/>
            </a:avLst>
          </a:prstGeom>
          <a:solidFill>
            <a:srgbClr val="F6F4FB"/>
          </a:solidFill>
          <a:ln w="12700">
            <a:solidFill>
              <a:srgbClr val="E4DFF0"/>
            </a:solidFill>
            <a:prstDash val="solid"/>
          </a:ln>
        </p:spPr>
        <p:txBody>
          <a:bodyPr/>
          <a:lstStyle/>
          <a:p>
            <a:endParaRPr lang="en-US"/>
          </a:p>
        </p:txBody>
      </p:sp>
      <p:sp>
        <p:nvSpPr>
          <p:cNvPr id="5" name="Shape 3"/>
          <p:cNvSpPr/>
          <p:nvPr/>
        </p:nvSpPr>
        <p:spPr>
          <a:xfrm>
            <a:off x="877824" y="2203704"/>
            <a:ext cx="475488" cy="475488"/>
          </a:xfrm>
          <a:prstGeom prst="ellipse">
            <a:avLst/>
          </a:prstGeom>
          <a:solidFill>
            <a:srgbClr val="231C40"/>
          </a:solidFill>
          <a:ln/>
        </p:spPr>
        <p:txBody>
          <a:bodyPr/>
          <a:lstStyle/>
          <a:p>
            <a:endParaRPr lang="en-US"/>
          </a:p>
        </p:txBody>
      </p:sp>
      <p:sp>
        <p:nvSpPr>
          <p:cNvPr id="6" name="Text 4"/>
          <p:cNvSpPr txBox="1"/>
          <p:nvPr/>
        </p:nvSpPr>
        <p:spPr>
          <a:xfrm>
            <a:off x="877824" y="2203704"/>
            <a:ext cx="475488" cy="475488"/>
          </a:xfrm>
          <a:prstGeom prst="rect">
            <a:avLst/>
          </a:prstGeom>
          <a:noFill/>
          <a:ln/>
        </p:spPr>
        <p:txBody>
          <a:bodyPr wrap="square" lIns="0" tIns="0" rIns="0" bIns="0" rtlCol="0" anchor="ctr"/>
          <a:lstStyle/>
          <a:p>
            <a:pPr marL="0" indent="0" algn="ctr">
              <a:buNone/>
            </a:pPr>
            <a:r>
              <a:rPr lang="en-US" sz="1800" b="1" dirty="0">
                <a:solidFill>
                  <a:srgbClr val="D9B45E"/>
                </a:solidFill>
                <a:latin typeface="Cambria" pitchFamily="34" charset="0"/>
                <a:ea typeface="Cambria" pitchFamily="34" charset="-122"/>
                <a:cs typeface="Cambria" pitchFamily="34" charset="-120"/>
              </a:rPr>
              <a:t>1</a:t>
            </a:r>
            <a:endParaRPr lang="en-US" sz="1800" dirty="0"/>
          </a:p>
        </p:txBody>
      </p:sp>
      <p:sp>
        <p:nvSpPr>
          <p:cNvPr id="7" name="Text 5"/>
          <p:cNvSpPr txBox="1"/>
          <p:nvPr/>
        </p:nvSpPr>
        <p:spPr>
          <a:xfrm>
            <a:off x="877824" y="2834640"/>
            <a:ext cx="2148840" cy="731520"/>
          </a:xfrm>
          <a:prstGeom prst="rect">
            <a:avLst/>
          </a:prstGeom>
          <a:noFill/>
          <a:ln/>
        </p:spPr>
        <p:txBody>
          <a:bodyPr wrap="square" lIns="0" tIns="0" rIns="0" bIns="0" rtlCol="0" anchor="ctr"/>
          <a:lstStyle/>
          <a:p>
            <a:pPr marL="0" indent="0">
              <a:lnSpc>
                <a:spcPct val="102000"/>
              </a:lnSpc>
              <a:buNone/>
            </a:pPr>
            <a:r>
              <a:rPr lang="en-US" sz="1550" b="1" dirty="0">
                <a:solidFill>
                  <a:srgbClr val="2B2545"/>
                </a:solidFill>
                <a:latin typeface="Calibri" pitchFamily="34" charset="0"/>
                <a:ea typeface="Calibri" pitchFamily="34" charset="-122"/>
                <a:cs typeface="Calibri" pitchFamily="34" charset="-120"/>
              </a:rPr>
              <a:t>Everything face down</a:t>
            </a:r>
            <a:endParaRPr lang="en-US" sz="1550" dirty="0"/>
          </a:p>
        </p:txBody>
      </p:sp>
      <p:sp>
        <p:nvSpPr>
          <p:cNvPr id="8" name="Text 6"/>
          <p:cNvSpPr txBox="1"/>
          <p:nvPr/>
        </p:nvSpPr>
        <p:spPr>
          <a:xfrm>
            <a:off x="877824" y="3566160"/>
            <a:ext cx="2148840" cy="777240"/>
          </a:xfrm>
          <a:prstGeom prst="rect">
            <a:avLst/>
          </a:prstGeom>
          <a:noFill/>
          <a:ln/>
        </p:spPr>
        <p:txBody>
          <a:bodyPr wrap="square" lIns="0" tIns="0" rIns="0" bIns="0" rtlCol="0" anchor="ctr"/>
          <a:lstStyle/>
          <a:p>
            <a:pPr marL="0" indent="0">
              <a:lnSpc>
                <a:spcPct val="108000"/>
              </a:lnSpc>
              <a:buNone/>
            </a:pPr>
            <a:r>
              <a:rPr lang="en-US" sz="1300" dirty="0">
                <a:solidFill>
                  <a:srgbClr val="5E5678"/>
                </a:solidFill>
                <a:latin typeface="Calibri" pitchFamily="34" charset="0"/>
                <a:ea typeface="Calibri" pitchFamily="34" charset="-122"/>
                <a:cs typeface="Calibri" pitchFamily="34" charset="-120"/>
              </a:rPr>
              <a:t>The whole spread hits the table before a word is said.</a:t>
            </a:r>
            <a:endParaRPr lang="en-US" sz="1300" dirty="0"/>
          </a:p>
        </p:txBody>
      </p:sp>
      <p:sp>
        <p:nvSpPr>
          <p:cNvPr id="9" name="Text 7"/>
          <p:cNvSpPr txBox="1"/>
          <p:nvPr/>
        </p:nvSpPr>
        <p:spPr>
          <a:xfrm>
            <a:off x="3218688" y="2971800"/>
            <a:ext cx="310896" cy="457200"/>
          </a:xfrm>
          <a:prstGeom prst="rect">
            <a:avLst/>
          </a:prstGeom>
          <a:noFill/>
          <a:ln/>
        </p:spPr>
        <p:txBody>
          <a:bodyPr wrap="square" lIns="0" tIns="0" rIns="0" bIns="0" rtlCol="0" anchor="ctr"/>
          <a:lstStyle/>
          <a:p>
            <a:pPr marL="0" indent="0" algn="ctr">
              <a:buNone/>
            </a:pPr>
            <a:r>
              <a:rPr lang="en-US" sz="2000" b="1" dirty="0">
                <a:solidFill>
                  <a:srgbClr val="8A6C1E"/>
                </a:solidFill>
                <a:latin typeface="Calibri" pitchFamily="34" charset="0"/>
                <a:ea typeface="Calibri" pitchFamily="34" charset="-122"/>
                <a:cs typeface="Calibri" pitchFamily="34" charset="-120"/>
              </a:rPr>
              <a:t>→</a:t>
            </a:r>
            <a:endParaRPr lang="en-US" sz="2000" dirty="0"/>
          </a:p>
        </p:txBody>
      </p:sp>
      <p:sp>
        <p:nvSpPr>
          <p:cNvPr id="10" name="Shape 8"/>
          <p:cNvSpPr/>
          <p:nvPr/>
        </p:nvSpPr>
        <p:spPr>
          <a:xfrm>
            <a:off x="3447288" y="1965960"/>
            <a:ext cx="2624328" cy="2468880"/>
          </a:xfrm>
          <a:prstGeom prst="roundRect">
            <a:avLst>
              <a:gd name="adj" fmla="val 2963"/>
            </a:avLst>
          </a:prstGeom>
          <a:solidFill>
            <a:srgbClr val="F6F4FB"/>
          </a:solidFill>
          <a:ln w="12700">
            <a:solidFill>
              <a:srgbClr val="E4DFF0"/>
            </a:solidFill>
            <a:prstDash val="solid"/>
          </a:ln>
        </p:spPr>
        <p:txBody>
          <a:bodyPr/>
          <a:lstStyle/>
          <a:p>
            <a:endParaRPr lang="en-US"/>
          </a:p>
        </p:txBody>
      </p:sp>
      <p:sp>
        <p:nvSpPr>
          <p:cNvPr id="11" name="Shape 9"/>
          <p:cNvSpPr/>
          <p:nvPr/>
        </p:nvSpPr>
        <p:spPr>
          <a:xfrm>
            <a:off x="3685032" y="2203704"/>
            <a:ext cx="475488" cy="475488"/>
          </a:xfrm>
          <a:prstGeom prst="ellipse">
            <a:avLst/>
          </a:prstGeom>
          <a:solidFill>
            <a:srgbClr val="231C40"/>
          </a:solidFill>
          <a:ln/>
        </p:spPr>
        <p:txBody>
          <a:bodyPr/>
          <a:lstStyle/>
          <a:p>
            <a:endParaRPr lang="en-US"/>
          </a:p>
        </p:txBody>
      </p:sp>
      <p:sp>
        <p:nvSpPr>
          <p:cNvPr id="12" name="Text 10"/>
          <p:cNvSpPr txBox="1"/>
          <p:nvPr/>
        </p:nvSpPr>
        <p:spPr>
          <a:xfrm>
            <a:off x="3685032" y="2203704"/>
            <a:ext cx="475488" cy="475488"/>
          </a:xfrm>
          <a:prstGeom prst="rect">
            <a:avLst/>
          </a:prstGeom>
          <a:noFill/>
          <a:ln/>
        </p:spPr>
        <p:txBody>
          <a:bodyPr wrap="square" lIns="0" tIns="0" rIns="0" bIns="0" rtlCol="0" anchor="ctr"/>
          <a:lstStyle/>
          <a:p>
            <a:pPr marL="0" indent="0" algn="ctr">
              <a:buNone/>
            </a:pPr>
            <a:r>
              <a:rPr lang="en-US" sz="1800" b="1" dirty="0">
                <a:solidFill>
                  <a:srgbClr val="D9B45E"/>
                </a:solidFill>
                <a:latin typeface="Cambria" pitchFamily="34" charset="0"/>
                <a:ea typeface="Cambria" pitchFamily="34" charset="-122"/>
                <a:cs typeface="Cambria" pitchFamily="34" charset="-120"/>
              </a:rPr>
              <a:t>2</a:t>
            </a:r>
            <a:endParaRPr lang="en-US" sz="1800" dirty="0"/>
          </a:p>
        </p:txBody>
      </p:sp>
      <p:sp>
        <p:nvSpPr>
          <p:cNvPr id="13" name="Text 11"/>
          <p:cNvSpPr txBox="1"/>
          <p:nvPr/>
        </p:nvSpPr>
        <p:spPr>
          <a:xfrm>
            <a:off x="3685032" y="2834640"/>
            <a:ext cx="2148840" cy="731520"/>
          </a:xfrm>
          <a:prstGeom prst="rect">
            <a:avLst/>
          </a:prstGeom>
          <a:noFill/>
          <a:ln/>
        </p:spPr>
        <p:txBody>
          <a:bodyPr wrap="square" lIns="0" tIns="0" rIns="0" bIns="0" rtlCol="0" anchor="ctr"/>
          <a:lstStyle/>
          <a:p>
            <a:pPr marL="0" indent="0">
              <a:lnSpc>
                <a:spcPct val="102000"/>
              </a:lnSpc>
              <a:buNone/>
            </a:pPr>
            <a:r>
              <a:rPr lang="en-US" sz="1550" b="1" dirty="0">
                <a:solidFill>
                  <a:srgbClr val="2B2545"/>
                </a:solidFill>
                <a:latin typeface="Calibri" pitchFamily="34" charset="0"/>
                <a:ea typeface="Calibri" pitchFamily="34" charset="-122"/>
                <a:cs typeface="Calibri" pitchFamily="34" charset="-120"/>
              </a:rPr>
              <a:t>You read the card first</a:t>
            </a:r>
            <a:endParaRPr lang="en-US" sz="1550" dirty="0"/>
          </a:p>
        </p:txBody>
      </p:sp>
      <p:sp>
        <p:nvSpPr>
          <p:cNvPr id="14" name="Text 12"/>
          <p:cNvSpPr txBox="1"/>
          <p:nvPr/>
        </p:nvSpPr>
        <p:spPr>
          <a:xfrm>
            <a:off x="3685032" y="3566160"/>
            <a:ext cx="2148840" cy="777240"/>
          </a:xfrm>
          <a:prstGeom prst="rect">
            <a:avLst/>
          </a:prstGeom>
          <a:noFill/>
          <a:ln/>
        </p:spPr>
        <p:txBody>
          <a:bodyPr wrap="square" lIns="0" tIns="0" rIns="0" bIns="0" rtlCol="0" anchor="ctr"/>
          <a:lstStyle/>
          <a:p>
            <a:pPr marL="0" indent="0">
              <a:lnSpc>
                <a:spcPct val="108000"/>
              </a:lnSpc>
              <a:buNone/>
            </a:pPr>
            <a:r>
              <a:rPr lang="en-US" sz="1300" dirty="0">
                <a:solidFill>
                  <a:srgbClr val="5E5678"/>
                </a:solidFill>
                <a:latin typeface="Calibri" pitchFamily="34" charset="0"/>
                <a:ea typeface="Calibri" pitchFamily="34" charset="-122"/>
                <a:cs typeface="Calibri" pitchFamily="34" charset="-120"/>
              </a:rPr>
              <a:t>“What does this feel like it's pointing at, for you?”</a:t>
            </a:r>
            <a:endParaRPr lang="en-US" sz="1300" dirty="0"/>
          </a:p>
        </p:txBody>
      </p:sp>
      <p:sp>
        <p:nvSpPr>
          <p:cNvPr id="15" name="Text 13"/>
          <p:cNvSpPr txBox="1"/>
          <p:nvPr/>
        </p:nvSpPr>
        <p:spPr>
          <a:xfrm>
            <a:off x="6025896" y="2971800"/>
            <a:ext cx="310896" cy="457200"/>
          </a:xfrm>
          <a:prstGeom prst="rect">
            <a:avLst/>
          </a:prstGeom>
          <a:noFill/>
          <a:ln/>
        </p:spPr>
        <p:txBody>
          <a:bodyPr wrap="square" lIns="0" tIns="0" rIns="0" bIns="0" rtlCol="0" anchor="ctr"/>
          <a:lstStyle/>
          <a:p>
            <a:pPr marL="0" indent="0" algn="ctr">
              <a:buNone/>
            </a:pPr>
            <a:r>
              <a:rPr lang="en-US" sz="2000" b="1" dirty="0">
                <a:solidFill>
                  <a:srgbClr val="8A6C1E"/>
                </a:solidFill>
                <a:latin typeface="Calibri" pitchFamily="34" charset="0"/>
                <a:ea typeface="Calibri" pitchFamily="34" charset="-122"/>
                <a:cs typeface="Calibri" pitchFamily="34" charset="-120"/>
              </a:rPr>
              <a:t>→</a:t>
            </a:r>
            <a:endParaRPr lang="en-US" sz="2000" dirty="0"/>
          </a:p>
        </p:txBody>
      </p:sp>
      <p:sp>
        <p:nvSpPr>
          <p:cNvPr id="16" name="Shape 14"/>
          <p:cNvSpPr/>
          <p:nvPr/>
        </p:nvSpPr>
        <p:spPr>
          <a:xfrm>
            <a:off x="6254496" y="1965960"/>
            <a:ext cx="2624328" cy="2468880"/>
          </a:xfrm>
          <a:prstGeom prst="roundRect">
            <a:avLst>
              <a:gd name="adj" fmla="val 2963"/>
            </a:avLst>
          </a:prstGeom>
          <a:solidFill>
            <a:srgbClr val="F6F4FB"/>
          </a:solidFill>
          <a:ln w="12700">
            <a:solidFill>
              <a:srgbClr val="E4DFF0"/>
            </a:solidFill>
            <a:prstDash val="solid"/>
          </a:ln>
        </p:spPr>
        <p:txBody>
          <a:bodyPr/>
          <a:lstStyle/>
          <a:p>
            <a:endParaRPr lang="en-US"/>
          </a:p>
        </p:txBody>
      </p:sp>
      <p:sp>
        <p:nvSpPr>
          <p:cNvPr id="17" name="Shape 15"/>
          <p:cNvSpPr/>
          <p:nvPr/>
        </p:nvSpPr>
        <p:spPr>
          <a:xfrm>
            <a:off x="6492240" y="2203704"/>
            <a:ext cx="475488" cy="475488"/>
          </a:xfrm>
          <a:prstGeom prst="ellipse">
            <a:avLst/>
          </a:prstGeom>
          <a:solidFill>
            <a:srgbClr val="231C40"/>
          </a:solidFill>
          <a:ln/>
        </p:spPr>
        <p:txBody>
          <a:bodyPr/>
          <a:lstStyle/>
          <a:p>
            <a:endParaRPr lang="en-US"/>
          </a:p>
        </p:txBody>
      </p:sp>
      <p:sp>
        <p:nvSpPr>
          <p:cNvPr id="18" name="Text 16"/>
          <p:cNvSpPr txBox="1"/>
          <p:nvPr/>
        </p:nvSpPr>
        <p:spPr>
          <a:xfrm>
            <a:off x="6492240" y="2203704"/>
            <a:ext cx="475488" cy="475488"/>
          </a:xfrm>
          <a:prstGeom prst="rect">
            <a:avLst/>
          </a:prstGeom>
          <a:noFill/>
          <a:ln/>
        </p:spPr>
        <p:txBody>
          <a:bodyPr wrap="square" lIns="0" tIns="0" rIns="0" bIns="0" rtlCol="0" anchor="ctr"/>
          <a:lstStyle/>
          <a:p>
            <a:pPr marL="0" indent="0" algn="ctr">
              <a:buNone/>
            </a:pPr>
            <a:r>
              <a:rPr lang="en-US" sz="1800" b="1" dirty="0">
                <a:solidFill>
                  <a:srgbClr val="D9B45E"/>
                </a:solidFill>
                <a:latin typeface="Cambria" pitchFamily="34" charset="0"/>
                <a:ea typeface="Cambria" pitchFamily="34" charset="-122"/>
                <a:cs typeface="Cambria" pitchFamily="34" charset="-120"/>
              </a:rPr>
              <a:t>3</a:t>
            </a:r>
            <a:endParaRPr lang="en-US" sz="1800" dirty="0"/>
          </a:p>
        </p:txBody>
      </p:sp>
      <p:sp>
        <p:nvSpPr>
          <p:cNvPr id="19" name="Text 17"/>
          <p:cNvSpPr txBox="1"/>
          <p:nvPr/>
        </p:nvSpPr>
        <p:spPr>
          <a:xfrm>
            <a:off x="6492240" y="2834640"/>
            <a:ext cx="2148840" cy="731520"/>
          </a:xfrm>
          <a:prstGeom prst="rect">
            <a:avLst/>
          </a:prstGeom>
          <a:noFill/>
          <a:ln/>
        </p:spPr>
        <p:txBody>
          <a:bodyPr wrap="square" lIns="0" tIns="0" rIns="0" bIns="0" rtlCol="0" anchor="ctr"/>
          <a:lstStyle/>
          <a:p>
            <a:pPr marL="0" indent="0">
              <a:lnSpc>
                <a:spcPct val="102000"/>
              </a:lnSpc>
              <a:buNone/>
            </a:pPr>
            <a:r>
              <a:rPr lang="en-US" sz="1550" b="1" dirty="0">
                <a:solidFill>
                  <a:srgbClr val="2B2545"/>
                </a:solidFill>
                <a:latin typeface="Calibri" pitchFamily="34" charset="0"/>
                <a:ea typeface="Calibri" pitchFamily="34" charset="-122"/>
                <a:cs typeface="Calibri" pitchFamily="34" charset="-120"/>
              </a:rPr>
              <a:t>The reader follows</a:t>
            </a:r>
            <a:endParaRPr lang="en-US" sz="1550" dirty="0"/>
          </a:p>
        </p:txBody>
      </p:sp>
      <p:sp>
        <p:nvSpPr>
          <p:cNvPr id="20" name="Text 18"/>
          <p:cNvSpPr txBox="1"/>
          <p:nvPr/>
        </p:nvSpPr>
        <p:spPr>
          <a:xfrm>
            <a:off x="6492240" y="3566160"/>
            <a:ext cx="2148840" cy="777240"/>
          </a:xfrm>
          <a:prstGeom prst="rect">
            <a:avLst/>
          </a:prstGeom>
          <a:noFill/>
          <a:ln/>
        </p:spPr>
        <p:txBody>
          <a:bodyPr wrap="square" lIns="0" tIns="0" rIns="0" bIns="0" rtlCol="0" anchor="ctr"/>
          <a:lstStyle/>
          <a:p>
            <a:pPr marL="0" indent="0">
              <a:lnSpc>
                <a:spcPct val="108000"/>
              </a:lnSpc>
              <a:buNone/>
            </a:pPr>
            <a:r>
              <a:rPr lang="en-US" sz="1300" dirty="0">
                <a:solidFill>
                  <a:srgbClr val="5E5678"/>
                </a:solidFill>
                <a:latin typeface="Calibri" pitchFamily="34" charset="0"/>
                <a:ea typeface="Calibri" pitchFamily="34" charset="-122"/>
                <a:cs typeface="Calibri" pitchFamily="34" charset="-120"/>
              </a:rPr>
              <a:t>One observation, one question per turn.</a:t>
            </a:r>
            <a:endParaRPr lang="en-US" sz="1300" dirty="0"/>
          </a:p>
        </p:txBody>
      </p:sp>
      <p:sp>
        <p:nvSpPr>
          <p:cNvPr id="21" name="Text 19"/>
          <p:cNvSpPr txBox="1"/>
          <p:nvPr/>
        </p:nvSpPr>
        <p:spPr>
          <a:xfrm>
            <a:off x="8833104" y="2971800"/>
            <a:ext cx="310896" cy="457200"/>
          </a:xfrm>
          <a:prstGeom prst="rect">
            <a:avLst/>
          </a:prstGeom>
          <a:noFill/>
          <a:ln/>
        </p:spPr>
        <p:txBody>
          <a:bodyPr wrap="square" lIns="0" tIns="0" rIns="0" bIns="0" rtlCol="0" anchor="ctr"/>
          <a:lstStyle/>
          <a:p>
            <a:pPr marL="0" indent="0" algn="ctr">
              <a:buNone/>
            </a:pPr>
            <a:r>
              <a:rPr lang="en-US" sz="2000" b="1" dirty="0">
                <a:solidFill>
                  <a:srgbClr val="8A6C1E"/>
                </a:solidFill>
                <a:latin typeface="Calibri" pitchFamily="34" charset="0"/>
                <a:ea typeface="Calibri" pitchFamily="34" charset="-122"/>
                <a:cs typeface="Calibri" pitchFamily="34" charset="-120"/>
              </a:rPr>
              <a:t>→</a:t>
            </a:r>
            <a:endParaRPr lang="en-US" sz="2000" dirty="0"/>
          </a:p>
        </p:txBody>
      </p:sp>
      <p:sp>
        <p:nvSpPr>
          <p:cNvPr id="22" name="Shape 20"/>
          <p:cNvSpPr/>
          <p:nvPr/>
        </p:nvSpPr>
        <p:spPr>
          <a:xfrm>
            <a:off x="9061704" y="1965960"/>
            <a:ext cx="2624328" cy="2468880"/>
          </a:xfrm>
          <a:prstGeom prst="roundRect">
            <a:avLst>
              <a:gd name="adj" fmla="val 2963"/>
            </a:avLst>
          </a:prstGeom>
          <a:solidFill>
            <a:srgbClr val="F6F4FB"/>
          </a:solidFill>
          <a:ln w="12700">
            <a:solidFill>
              <a:srgbClr val="E4DFF0"/>
            </a:solidFill>
            <a:prstDash val="solid"/>
          </a:ln>
        </p:spPr>
        <p:txBody>
          <a:bodyPr/>
          <a:lstStyle/>
          <a:p>
            <a:endParaRPr lang="en-US"/>
          </a:p>
        </p:txBody>
      </p:sp>
      <p:sp>
        <p:nvSpPr>
          <p:cNvPr id="23" name="Shape 21"/>
          <p:cNvSpPr/>
          <p:nvPr/>
        </p:nvSpPr>
        <p:spPr>
          <a:xfrm>
            <a:off x="9299448" y="2203704"/>
            <a:ext cx="475488" cy="475488"/>
          </a:xfrm>
          <a:prstGeom prst="ellipse">
            <a:avLst/>
          </a:prstGeom>
          <a:solidFill>
            <a:srgbClr val="231C40"/>
          </a:solidFill>
          <a:ln/>
        </p:spPr>
        <p:txBody>
          <a:bodyPr/>
          <a:lstStyle/>
          <a:p>
            <a:endParaRPr lang="en-US"/>
          </a:p>
        </p:txBody>
      </p:sp>
      <p:sp>
        <p:nvSpPr>
          <p:cNvPr id="24" name="Text 22"/>
          <p:cNvSpPr txBox="1"/>
          <p:nvPr/>
        </p:nvSpPr>
        <p:spPr>
          <a:xfrm>
            <a:off x="9299448" y="2203704"/>
            <a:ext cx="475488" cy="475488"/>
          </a:xfrm>
          <a:prstGeom prst="rect">
            <a:avLst/>
          </a:prstGeom>
          <a:noFill/>
          <a:ln/>
        </p:spPr>
        <p:txBody>
          <a:bodyPr wrap="square" lIns="0" tIns="0" rIns="0" bIns="0" rtlCol="0" anchor="ctr"/>
          <a:lstStyle/>
          <a:p>
            <a:pPr marL="0" indent="0" algn="ctr">
              <a:buNone/>
            </a:pPr>
            <a:r>
              <a:rPr lang="en-US" sz="1800" b="1" dirty="0">
                <a:solidFill>
                  <a:srgbClr val="D9B45E"/>
                </a:solidFill>
                <a:latin typeface="Cambria" pitchFamily="34" charset="0"/>
                <a:ea typeface="Cambria" pitchFamily="34" charset="-122"/>
                <a:cs typeface="Cambria" pitchFamily="34" charset="-120"/>
              </a:rPr>
              <a:t>4</a:t>
            </a:r>
            <a:endParaRPr lang="en-US" sz="1800" dirty="0"/>
          </a:p>
        </p:txBody>
      </p:sp>
      <p:sp>
        <p:nvSpPr>
          <p:cNvPr id="25" name="Text 23"/>
          <p:cNvSpPr txBox="1"/>
          <p:nvPr/>
        </p:nvSpPr>
        <p:spPr>
          <a:xfrm>
            <a:off x="9299448" y="2834640"/>
            <a:ext cx="2148840" cy="731520"/>
          </a:xfrm>
          <a:prstGeom prst="rect">
            <a:avLst/>
          </a:prstGeom>
          <a:noFill/>
          <a:ln/>
        </p:spPr>
        <p:txBody>
          <a:bodyPr wrap="square" lIns="0" tIns="0" rIns="0" bIns="0" rtlCol="0" anchor="ctr"/>
          <a:lstStyle/>
          <a:p>
            <a:pPr marL="0" indent="0">
              <a:lnSpc>
                <a:spcPct val="102000"/>
              </a:lnSpc>
              <a:buNone/>
            </a:pPr>
            <a:r>
              <a:rPr lang="en-US" sz="1550" b="1" dirty="0">
                <a:solidFill>
                  <a:srgbClr val="2B2545"/>
                </a:solidFill>
                <a:latin typeface="Calibri" pitchFamily="34" charset="0"/>
                <a:ea typeface="Calibri" pitchFamily="34" charset="-122"/>
                <a:cs typeface="Calibri" pitchFamily="34" charset="-120"/>
              </a:rPr>
              <a:t>Sharing turns the next card</a:t>
            </a:r>
            <a:endParaRPr lang="en-US" sz="1550" dirty="0"/>
          </a:p>
        </p:txBody>
      </p:sp>
      <p:sp>
        <p:nvSpPr>
          <p:cNvPr id="26" name="Text 24"/>
          <p:cNvSpPr txBox="1"/>
          <p:nvPr/>
        </p:nvSpPr>
        <p:spPr>
          <a:xfrm>
            <a:off x="9299448" y="3566160"/>
            <a:ext cx="2148840" cy="777240"/>
          </a:xfrm>
          <a:prstGeom prst="rect">
            <a:avLst/>
          </a:prstGeom>
          <a:noFill/>
          <a:ln/>
        </p:spPr>
        <p:txBody>
          <a:bodyPr wrap="square" lIns="0" tIns="0" rIns="0" bIns="0" rtlCol="0" anchor="ctr"/>
          <a:lstStyle/>
          <a:p>
            <a:pPr marL="0" indent="0">
              <a:lnSpc>
                <a:spcPct val="108000"/>
              </a:lnSpc>
              <a:buNone/>
            </a:pPr>
            <a:r>
              <a:rPr lang="en-US" sz="1300" dirty="0">
                <a:solidFill>
                  <a:srgbClr val="5E5678"/>
                </a:solidFill>
                <a:latin typeface="Calibri" pitchFamily="34" charset="0"/>
                <a:ea typeface="Calibri" pitchFamily="34" charset="-122"/>
                <a:cs typeface="Calibri" pitchFamily="34" charset="-120"/>
              </a:rPr>
              <a:t>Cards turn when you say something real, not on a timer.</a:t>
            </a:r>
            <a:endParaRPr lang="en-US" sz="1300" dirty="0"/>
          </a:p>
        </p:txBody>
      </p:sp>
      <p:sp>
        <p:nvSpPr>
          <p:cNvPr id="27" name="Shape 25"/>
          <p:cNvSpPr/>
          <p:nvPr/>
        </p:nvSpPr>
        <p:spPr>
          <a:xfrm>
            <a:off x="640080" y="4800600"/>
            <a:ext cx="10908792" cy="1371600"/>
          </a:xfrm>
          <a:prstGeom prst="roundRect">
            <a:avLst>
              <a:gd name="adj" fmla="val 5333"/>
            </a:avLst>
          </a:prstGeom>
          <a:solidFill>
            <a:srgbClr val="F6F4FB"/>
          </a:solidFill>
          <a:ln w="12700">
            <a:solidFill>
              <a:srgbClr val="E4DFF0"/>
            </a:solidFill>
            <a:prstDash val="solid"/>
          </a:ln>
        </p:spPr>
        <p:txBody>
          <a:bodyPr/>
          <a:lstStyle/>
          <a:p>
            <a:endParaRPr lang="en-US"/>
          </a:p>
        </p:txBody>
      </p:sp>
      <p:pic>
        <p:nvPicPr>
          <p:cNvPr id="28" name="Image 0" descr="/mnt/user-data/uploads/ai-tarot-projection/data/Cards-jpg/CardBacks.jpg"/>
          <p:cNvPicPr>
            <a:picLocks noChangeAspect="1"/>
          </p:cNvPicPr>
          <p:nvPr/>
        </p:nvPicPr>
        <p:blipFill>
          <a:blip r:embed="rId3"/>
          <a:stretch>
            <a:fillRect/>
          </a:stretch>
        </p:blipFill>
        <p:spPr>
          <a:xfrm>
            <a:off x="914400" y="4965192"/>
            <a:ext cx="594360" cy="1042416"/>
          </a:xfrm>
          <a:prstGeom prst="rect">
            <a:avLst/>
          </a:prstGeom>
        </p:spPr>
      </p:pic>
      <p:pic>
        <p:nvPicPr>
          <p:cNvPr id="29" name="Image 1" descr="/mnt/user-data/uploads/ai-tarot-projection/data/Cards-jpg/00-TheFool.jpg"/>
          <p:cNvPicPr>
            <a:picLocks noChangeAspect="1"/>
          </p:cNvPicPr>
          <p:nvPr/>
        </p:nvPicPr>
        <p:blipFill>
          <a:blip r:embed="rId4"/>
          <a:stretch>
            <a:fillRect/>
          </a:stretch>
        </p:blipFill>
        <p:spPr>
          <a:xfrm>
            <a:off x="1600200" y="4965192"/>
            <a:ext cx="594360" cy="1042416"/>
          </a:xfrm>
          <a:prstGeom prst="rect">
            <a:avLst/>
          </a:prstGeom>
        </p:spPr>
      </p:pic>
      <p:sp>
        <p:nvSpPr>
          <p:cNvPr id="30" name="Text 26"/>
          <p:cNvSpPr txBox="1"/>
          <p:nvPr/>
        </p:nvSpPr>
        <p:spPr>
          <a:xfrm>
            <a:off x="2468880" y="4937760"/>
            <a:ext cx="8869680" cy="1097280"/>
          </a:xfrm>
          <a:prstGeom prst="rect">
            <a:avLst/>
          </a:prstGeom>
          <a:noFill/>
          <a:ln/>
        </p:spPr>
        <p:txBody>
          <a:bodyPr wrap="square" lIns="0" tIns="0" rIns="0" bIns="0" rtlCol="0" anchor="ctr"/>
          <a:lstStyle/>
          <a:p>
            <a:pPr marL="0" indent="0">
              <a:lnSpc>
                <a:spcPct val="115000"/>
              </a:lnSpc>
              <a:buNone/>
            </a:pPr>
            <a:r>
              <a:rPr lang="en-US" sz="1450" b="1" dirty="0">
                <a:solidFill>
                  <a:srgbClr val="2B2545"/>
                </a:solidFill>
                <a:latin typeface="Calibri" pitchFamily="34" charset="0"/>
                <a:ea typeface="Calibri" pitchFamily="34" charset="-122"/>
                <a:cs typeface="Calibri" pitchFamily="34" charset="-120"/>
              </a:rPr>
              <a:t>The earned fourth card:  </a:t>
            </a:r>
            <a:r>
              <a:rPr lang="en-US" sz="1450" dirty="0">
                <a:solidFill>
                  <a:srgbClr val="5E5678"/>
                </a:solidFill>
                <a:latin typeface="Calibri" pitchFamily="34" charset="0"/>
                <a:ea typeface="Calibri" pitchFamily="34" charset="-122"/>
                <a:cs typeface="Calibri" pitchFamily="34" charset="-120"/>
              </a:rPr>
              <a:t>an epilogue that only exists when the reading earned it. Otherwise, </a:t>
            </a:r>
            <a:r>
              <a:rPr lang="en-US" sz="1450" i="1" dirty="0">
                <a:solidFill>
                  <a:srgbClr val="8A6C1E"/>
                </a:solidFill>
                <a:latin typeface="Calibri" pitchFamily="34" charset="0"/>
                <a:ea typeface="Calibri" pitchFamily="34" charset="-122"/>
                <a:cs typeface="Calibri" pitchFamily="34" charset="-120"/>
              </a:rPr>
              <a:t>“one card stays with the deck today; it'll be there when you come back.”</a:t>
            </a:r>
            <a:endParaRPr lang="en-US" sz="1450" dirty="0"/>
          </a:p>
        </p:txBody>
      </p:sp>
      <p:sp>
        <p:nvSpPr>
          <p:cNvPr id="31" name="Text 27"/>
          <p:cNvSpPr txBox="1"/>
          <p:nvPr/>
        </p:nvSpPr>
        <p:spPr>
          <a:xfrm>
            <a:off x="9262872" y="6473952"/>
            <a:ext cx="2377440" cy="274320"/>
          </a:xfrm>
          <a:prstGeom prst="rect">
            <a:avLst/>
          </a:prstGeom>
          <a:noFill/>
          <a:ln/>
        </p:spPr>
        <p:txBody>
          <a:bodyPr wrap="square" lIns="0" tIns="0" rIns="0" bIns="0" rtlCol="0" anchor="ctr"/>
          <a:lstStyle/>
          <a:p>
            <a:pPr marL="0" indent="0" algn="r">
              <a:buNone/>
            </a:pPr>
            <a:r>
              <a:rPr lang="en-US" sz="1000" dirty="0">
                <a:solidFill>
                  <a:srgbClr val="5E5678"/>
                </a:solidFill>
                <a:latin typeface="Calibri" pitchFamily="34" charset="0"/>
                <a:ea typeface="Calibri" pitchFamily="34" charset="-122"/>
                <a:cs typeface="Calibri" pitchFamily="34" charset="-120"/>
              </a:rPr>
              <a:t>AI Tarot Projection  ·  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11480"/>
            <a:ext cx="8229600" cy="320040"/>
          </a:xfrm>
          <a:prstGeom prst="rect">
            <a:avLst/>
          </a:prstGeom>
          <a:noFill/>
          <a:ln/>
        </p:spPr>
        <p:txBody>
          <a:bodyPr wrap="square" lIns="0" tIns="0" rIns="0" bIns="0" rtlCol="0" anchor="ctr"/>
          <a:lstStyle/>
          <a:p>
            <a:pPr marL="0" indent="0" algn="l">
              <a:buNone/>
            </a:pPr>
            <a:r>
              <a:rPr lang="en-US" sz="1300" b="1" kern="0" spc="300" dirty="0">
                <a:solidFill>
                  <a:srgbClr val="8A6C1E"/>
                </a:solidFill>
                <a:latin typeface="Calibri" pitchFamily="34" charset="0"/>
                <a:ea typeface="Calibri" pitchFamily="34" charset="-122"/>
                <a:cs typeface="Calibri" pitchFamily="34" charset="-120"/>
              </a:rPr>
              <a:t>INTERNAL DESIGN · NARRATIVE MAPS</a:t>
            </a:r>
            <a:endParaRPr lang="en-US" sz="1300" dirty="0"/>
          </a:p>
        </p:txBody>
      </p:sp>
      <p:sp>
        <p:nvSpPr>
          <p:cNvPr id="3" name="Text 1"/>
          <p:cNvSpPr txBox="1"/>
          <p:nvPr/>
        </p:nvSpPr>
        <p:spPr>
          <a:xfrm>
            <a:off x="640080" y="731520"/>
            <a:ext cx="10881360" cy="868680"/>
          </a:xfrm>
          <a:prstGeom prst="rect">
            <a:avLst/>
          </a:prstGeom>
          <a:noFill/>
          <a:ln/>
        </p:spPr>
        <p:txBody>
          <a:bodyPr wrap="square" lIns="0" tIns="0" rIns="0" bIns="0" rtlCol="0" anchor="ctr"/>
          <a:lstStyle/>
          <a:p>
            <a:pPr marL="0" indent="0" algn="l">
              <a:buNone/>
            </a:pPr>
            <a:r>
              <a:rPr lang="en-US" sz="3600" b="1" dirty="0">
                <a:solidFill>
                  <a:srgbClr val="2B2545"/>
                </a:solidFill>
                <a:latin typeface="Cambria" pitchFamily="34" charset="0"/>
                <a:ea typeface="Cambria" pitchFamily="34" charset="-122"/>
                <a:cs typeface="Cambria" pitchFamily="34" charset="-120"/>
              </a:rPr>
              <a:t>The reading knows where it's going</a:t>
            </a:r>
            <a:endParaRPr lang="en-US" sz="3600" dirty="0"/>
          </a:p>
        </p:txBody>
      </p:sp>
      <p:sp>
        <p:nvSpPr>
          <p:cNvPr id="4" name="Shape 2"/>
          <p:cNvSpPr/>
          <p:nvPr/>
        </p:nvSpPr>
        <p:spPr>
          <a:xfrm>
            <a:off x="640080" y="2286000"/>
            <a:ext cx="1783080" cy="1005840"/>
          </a:xfrm>
          <a:prstGeom prst="roundRect">
            <a:avLst>
              <a:gd name="adj" fmla="val 7273"/>
            </a:avLst>
          </a:prstGeom>
          <a:solidFill>
            <a:srgbClr val="231C40"/>
          </a:solidFill>
          <a:ln w="12700">
            <a:solidFill>
              <a:srgbClr val="231C40"/>
            </a:solidFill>
            <a:prstDash val="solid"/>
          </a:ln>
        </p:spPr>
        <p:txBody>
          <a:bodyPr/>
          <a:lstStyle/>
          <a:p>
            <a:endParaRPr lang="en-US"/>
          </a:p>
        </p:txBody>
      </p:sp>
      <p:sp>
        <p:nvSpPr>
          <p:cNvPr id="5" name="Text 3"/>
          <p:cNvSpPr txBox="1"/>
          <p:nvPr/>
        </p:nvSpPr>
        <p:spPr>
          <a:xfrm>
            <a:off x="640080" y="2286000"/>
            <a:ext cx="1783080" cy="100584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SITUATION</a:t>
            </a:r>
            <a:endParaRPr lang="en-US" sz="1400" dirty="0"/>
          </a:p>
          <a:p>
            <a:pPr marL="0" indent="0" algn="ctr">
              <a:buNone/>
            </a:pPr>
            <a:r>
              <a:rPr lang="en-US" sz="1200" i="1" dirty="0">
                <a:solidFill>
                  <a:srgbClr val="D9B45E"/>
                </a:solidFill>
                <a:latin typeface="Calibri" pitchFamily="34" charset="0"/>
                <a:ea typeface="Calibri" pitchFamily="34" charset="-122"/>
                <a:cs typeface="Calibri" pitchFamily="34" charset="-120"/>
              </a:rPr>
              <a:t>setup</a:t>
            </a:r>
            <a:endParaRPr lang="en-US" sz="1400" dirty="0"/>
          </a:p>
        </p:txBody>
      </p:sp>
      <p:sp>
        <p:nvSpPr>
          <p:cNvPr id="6" name="Text 4"/>
          <p:cNvSpPr txBox="1"/>
          <p:nvPr/>
        </p:nvSpPr>
        <p:spPr>
          <a:xfrm>
            <a:off x="2496312" y="2487168"/>
            <a:ext cx="365760" cy="548640"/>
          </a:xfrm>
          <a:prstGeom prst="rect">
            <a:avLst/>
          </a:prstGeom>
          <a:noFill/>
          <a:ln/>
        </p:spPr>
        <p:txBody>
          <a:bodyPr wrap="square" lIns="0" tIns="0" rIns="0" bIns="0" rtlCol="0" anchor="ctr"/>
          <a:lstStyle/>
          <a:p>
            <a:pPr marL="0" indent="0" algn="ctr">
              <a:buNone/>
            </a:pPr>
            <a:r>
              <a:rPr lang="en-US" sz="2100" b="1" dirty="0">
                <a:solidFill>
                  <a:srgbClr val="8A6C1E"/>
                </a:solidFill>
                <a:latin typeface="Calibri" pitchFamily="34" charset="0"/>
                <a:ea typeface="Calibri" pitchFamily="34" charset="-122"/>
                <a:cs typeface="Calibri" pitchFamily="34" charset="-120"/>
              </a:rPr>
              <a:t>→</a:t>
            </a:r>
            <a:endParaRPr lang="en-US" sz="2100" dirty="0"/>
          </a:p>
        </p:txBody>
      </p:sp>
      <p:sp>
        <p:nvSpPr>
          <p:cNvPr id="7" name="Shape 5"/>
          <p:cNvSpPr/>
          <p:nvPr/>
        </p:nvSpPr>
        <p:spPr>
          <a:xfrm>
            <a:off x="2926080" y="2286000"/>
            <a:ext cx="1783080" cy="1005840"/>
          </a:xfrm>
          <a:prstGeom prst="roundRect">
            <a:avLst>
              <a:gd name="adj" fmla="val 7273"/>
            </a:avLst>
          </a:prstGeom>
          <a:solidFill>
            <a:srgbClr val="231C40"/>
          </a:solidFill>
          <a:ln w="12700">
            <a:solidFill>
              <a:srgbClr val="231C40"/>
            </a:solidFill>
            <a:prstDash val="solid"/>
          </a:ln>
        </p:spPr>
        <p:txBody>
          <a:bodyPr/>
          <a:lstStyle/>
          <a:p>
            <a:endParaRPr lang="en-US"/>
          </a:p>
        </p:txBody>
      </p:sp>
      <p:sp>
        <p:nvSpPr>
          <p:cNvPr id="8" name="Text 6"/>
          <p:cNvSpPr txBox="1"/>
          <p:nvPr/>
        </p:nvSpPr>
        <p:spPr>
          <a:xfrm>
            <a:off x="2926080" y="2286000"/>
            <a:ext cx="1783080" cy="100584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OBSTACLE</a:t>
            </a:r>
            <a:endParaRPr lang="en-US" sz="1400" dirty="0"/>
          </a:p>
          <a:p>
            <a:pPr marL="0" indent="0" algn="ctr">
              <a:buNone/>
            </a:pPr>
            <a:r>
              <a:rPr lang="en-US" sz="1200" i="1" dirty="0">
                <a:solidFill>
                  <a:srgbClr val="D9B45E"/>
                </a:solidFill>
                <a:latin typeface="Calibri" pitchFamily="34" charset="0"/>
                <a:ea typeface="Calibri" pitchFamily="34" charset="-122"/>
                <a:cs typeface="Calibri" pitchFamily="34" charset="-120"/>
              </a:rPr>
              <a:t>tension</a:t>
            </a:r>
            <a:endParaRPr lang="en-US" sz="1400" dirty="0"/>
          </a:p>
        </p:txBody>
      </p:sp>
      <p:sp>
        <p:nvSpPr>
          <p:cNvPr id="9" name="Text 7"/>
          <p:cNvSpPr txBox="1"/>
          <p:nvPr/>
        </p:nvSpPr>
        <p:spPr>
          <a:xfrm>
            <a:off x="4782312" y="2487168"/>
            <a:ext cx="365760" cy="548640"/>
          </a:xfrm>
          <a:prstGeom prst="rect">
            <a:avLst/>
          </a:prstGeom>
          <a:noFill/>
          <a:ln/>
        </p:spPr>
        <p:txBody>
          <a:bodyPr wrap="square" lIns="0" tIns="0" rIns="0" bIns="0" rtlCol="0" anchor="ctr"/>
          <a:lstStyle/>
          <a:p>
            <a:pPr marL="0" indent="0" algn="ctr">
              <a:buNone/>
            </a:pPr>
            <a:r>
              <a:rPr lang="en-US" sz="2100" b="1" dirty="0">
                <a:solidFill>
                  <a:srgbClr val="8A6C1E"/>
                </a:solidFill>
                <a:latin typeface="Calibri" pitchFamily="34" charset="0"/>
                <a:ea typeface="Calibri" pitchFamily="34" charset="-122"/>
                <a:cs typeface="Calibri" pitchFamily="34" charset="-120"/>
              </a:rPr>
              <a:t>→</a:t>
            </a:r>
            <a:endParaRPr lang="en-US" sz="2100" dirty="0"/>
          </a:p>
        </p:txBody>
      </p:sp>
      <p:sp>
        <p:nvSpPr>
          <p:cNvPr id="10" name="Shape 8"/>
          <p:cNvSpPr/>
          <p:nvPr/>
        </p:nvSpPr>
        <p:spPr>
          <a:xfrm>
            <a:off x="5212080" y="2286000"/>
            <a:ext cx="1783080" cy="1005840"/>
          </a:xfrm>
          <a:prstGeom prst="roundRect">
            <a:avLst>
              <a:gd name="adj" fmla="val 7273"/>
            </a:avLst>
          </a:prstGeom>
          <a:solidFill>
            <a:srgbClr val="231C40"/>
          </a:solidFill>
          <a:ln w="12700">
            <a:solidFill>
              <a:srgbClr val="231C40"/>
            </a:solidFill>
            <a:prstDash val="solid"/>
          </a:ln>
        </p:spPr>
        <p:txBody>
          <a:bodyPr/>
          <a:lstStyle/>
          <a:p>
            <a:endParaRPr lang="en-US"/>
          </a:p>
        </p:txBody>
      </p:sp>
      <p:sp>
        <p:nvSpPr>
          <p:cNvPr id="11" name="Text 9"/>
          <p:cNvSpPr txBox="1"/>
          <p:nvPr/>
        </p:nvSpPr>
        <p:spPr>
          <a:xfrm>
            <a:off x="5212080" y="2286000"/>
            <a:ext cx="1783080" cy="100584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ADVICE</a:t>
            </a:r>
            <a:endParaRPr lang="en-US" sz="1400" dirty="0"/>
          </a:p>
          <a:p>
            <a:pPr marL="0" indent="0" algn="ctr">
              <a:buNone/>
            </a:pPr>
            <a:r>
              <a:rPr lang="en-US" sz="1200" i="1" dirty="0">
                <a:solidFill>
                  <a:srgbClr val="D9B45E"/>
                </a:solidFill>
                <a:latin typeface="Calibri" pitchFamily="34" charset="0"/>
                <a:ea typeface="Calibri" pitchFamily="34" charset="-122"/>
                <a:cs typeface="Calibri" pitchFamily="34" charset="-120"/>
              </a:rPr>
              <a:t>resolution</a:t>
            </a:r>
            <a:endParaRPr lang="en-US" sz="1400" dirty="0"/>
          </a:p>
        </p:txBody>
      </p:sp>
      <p:sp>
        <p:nvSpPr>
          <p:cNvPr id="12" name="Text 10"/>
          <p:cNvSpPr txBox="1"/>
          <p:nvPr/>
        </p:nvSpPr>
        <p:spPr>
          <a:xfrm>
            <a:off x="5920740" y="3310128"/>
            <a:ext cx="365760" cy="320040"/>
          </a:xfrm>
          <a:prstGeom prst="rect">
            <a:avLst/>
          </a:prstGeom>
          <a:noFill/>
          <a:ln/>
        </p:spPr>
        <p:txBody>
          <a:bodyPr wrap="square" lIns="0" tIns="0" rIns="0" bIns="0" rtlCol="0" anchor="ctr"/>
          <a:lstStyle/>
          <a:p>
            <a:pPr marL="0" indent="0" algn="ctr">
              <a:buNone/>
            </a:pPr>
            <a:r>
              <a:rPr lang="en-US" sz="1700" b="1" dirty="0">
                <a:solidFill>
                  <a:srgbClr val="8A6C1E"/>
                </a:solidFill>
                <a:latin typeface="Calibri" pitchFamily="34" charset="0"/>
                <a:ea typeface="Calibri" pitchFamily="34" charset="-122"/>
                <a:cs typeface="Calibri" pitchFamily="34" charset="-120"/>
              </a:rPr>
              <a:t>↓</a:t>
            </a:r>
            <a:endParaRPr lang="en-US" sz="1700" dirty="0"/>
          </a:p>
        </p:txBody>
      </p:sp>
      <p:sp>
        <p:nvSpPr>
          <p:cNvPr id="13" name="Shape 11"/>
          <p:cNvSpPr/>
          <p:nvPr/>
        </p:nvSpPr>
        <p:spPr>
          <a:xfrm>
            <a:off x="5212080" y="3657600"/>
            <a:ext cx="1783080" cy="822960"/>
          </a:xfrm>
          <a:prstGeom prst="roundRect">
            <a:avLst>
              <a:gd name="adj" fmla="val 8889"/>
            </a:avLst>
          </a:prstGeom>
          <a:solidFill>
            <a:srgbClr val="FFFFFF"/>
          </a:solidFill>
          <a:ln w="19050">
            <a:solidFill>
              <a:srgbClr val="C9A24B"/>
            </a:solidFill>
            <a:prstDash val="dash"/>
          </a:ln>
        </p:spPr>
        <p:txBody>
          <a:bodyPr/>
          <a:lstStyle/>
          <a:p>
            <a:endParaRPr lang="en-US"/>
          </a:p>
        </p:txBody>
      </p:sp>
      <p:sp>
        <p:nvSpPr>
          <p:cNvPr id="14" name="Text 12"/>
          <p:cNvSpPr txBox="1"/>
          <p:nvPr/>
        </p:nvSpPr>
        <p:spPr>
          <a:xfrm>
            <a:off x="5212080" y="3657600"/>
            <a:ext cx="1783080" cy="822960"/>
          </a:xfrm>
          <a:prstGeom prst="rect">
            <a:avLst/>
          </a:prstGeom>
          <a:noFill/>
          <a:ln/>
        </p:spPr>
        <p:txBody>
          <a:bodyPr wrap="square" lIns="0" tIns="0" rIns="0" bIns="0" rtlCol="0" anchor="ctr"/>
          <a:lstStyle/>
          <a:p>
            <a:pPr marL="0" indent="0" algn="ctr">
              <a:buNone/>
            </a:pPr>
            <a:r>
              <a:rPr lang="en-US" sz="1300" b="1" dirty="0">
                <a:solidFill>
                  <a:srgbClr val="8A6C1E"/>
                </a:solidFill>
                <a:latin typeface="Calibri" pitchFamily="34" charset="0"/>
                <a:ea typeface="Calibri" pitchFamily="34" charset="-122"/>
                <a:cs typeface="Calibri" pitchFamily="34" charset="-120"/>
              </a:rPr>
              <a:t>EPILOGUE</a:t>
            </a:r>
            <a:endParaRPr lang="en-US" sz="1300" dirty="0"/>
          </a:p>
          <a:p>
            <a:pPr marL="0" indent="0" algn="ctr">
              <a:buNone/>
            </a:pPr>
            <a:r>
              <a:rPr lang="en-US" sz="1150" i="1" dirty="0">
                <a:solidFill>
                  <a:srgbClr val="5E5678"/>
                </a:solidFill>
                <a:latin typeface="Calibri" pitchFamily="34" charset="0"/>
                <a:ea typeface="Calibri" pitchFamily="34" charset="-122"/>
                <a:cs typeface="Calibri" pitchFamily="34" charset="-120"/>
              </a:rPr>
              <a:t>only if earned</a:t>
            </a:r>
            <a:endParaRPr lang="en-US" sz="1300" dirty="0"/>
          </a:p>
        </p:txBody>
      </p:sp>
      <p:sp>
        <p:nvSpPr>
          <p:cNvPr id="15" name="Text 13"/>
          <p:cNvSpPr txBox="1"/>
          <p:nvPr/>
        </p:nvSpPr>
        <p:spPr>
          <a:xfrm>
            <a:off x="640080" y="5029200"/>
            <a:ext cx="6035040" cy="822960"/>
          </a:xfrm>
          <a:prstGeom prst="rect">
            <a:avLst/>
          </a:prstGeom>
          <a:noFill/>
          <a:ln/>
        </p:spPr>
        <p:txBody>
          <a:bodyPr wrap="square" lIns="0" tIns="0" rIns="0" bIns="0" rtlCol="0" anchor="ctr"/>
          <a:lstStyle/>
          <a:p>
            <a:pPr marL="0" indent="0">
              <a:lnSpc>
                <a:spcPct val="112000"/>
              </a:lnSpc>
              <a:buNone/>
            </a:pPr>
            <a:r>
              <a:rPr lang="en-US" sz="1400" i="1" dirty="0">
                <a:solidFill>
                  <a:srgbClr val="5E5678"/>
                </a:solidFill>
                <a:latin typeface="Calibri" pitchFamily="34" charset="0"/>
                <a:ea typeface="Calibri" pitchFamily="34" charset="-122"/>
                <a:cs typeface="Calibri" pitchFamily="34" charset="-120"/>
              </a:rPr>
              <a:t>The spread and a story arc are the same shape, so the session steers toward a landing.</a:t>
            </a:r>
            <a:endParaRPr lang="en-US" sz="1400" dirty="0"/>
          </a:p>
        </p:txBody>
      </p:sp>
      <p:sp>
        <p:nvSpPr>
          <p:cNvPr id="16" name="Shape 14"/>
          <p:cNvSpPr/>
          <p:nvPr/>
        </p:nvSpPr>
        <p:spPr>
          <a:xfrm>
            <a:off x="7315200" y="2304288"/>
            <a:ext cx="512064" cy="512064"/>
          </a:xfrm>
          <a:prstGeom prst="ellipse">
            <a:avLst/>
          </a:prstGeom>
          <a:solidFill>
            <a:srgbClr val="231C40"/>
          </a:solidFill>
          <a:ln/>
        </p:spPr>
        <p:txBody>
          <a:bodyPr/>
          <a:lstStyle/>
          <a:p>
            <a:endParaRPr lang="en-US"/>
          </a:p>
        </p:txBody>
      </p:sp>
      <p:pic>
        <p:nvPicPr>
          <p:cNvPr id="17" name="Image 0" descr="/home/claude/tarot-deck/icons/anchor-gold.png"/>
          <p:cNvPicPr>
            <a:picLocks noChangeAspect="1"/>
          </p:cNvPicPr>
          <p:nvPr/>
        </p:nvPicPr>
        <p:blipFill>
          <a:blip r:embed="rId3"/>
          <a:stretch>
            <a:fillRect/>
          </a:stretch>
        </p:blipFill>
        <p:spPr>
          <a:xfrm>
            <a:off x="7443216" y="2432304"/>
            <a:ext cx="256032" cy="256032"/>
          </a:xfrm>
          <a:prstGeom prst="rect">
            <a:avLst/>
          </a:prstGeom>
        </p:spPr>
      </p:pic>
      <p:sp>
        <p:nvSpPr>
          <p:cNvPr id="18" name="Text 15"/>
          <p:cNvSpPr txBox="1"/>
          <p:nvPr/>
        </p:nvSpPr>
        <p:spPr>
          <a:xfrm>
            <a:off x="8046720" y="2286000"/>
            <a:ext cx="3566160" cy="1280160"/>
          </a:xfrm>
          <a:prstGeom prst="rect">
            <a:avLst/>
          </a:prstGeom>
          <a:noFill/>
          <a:ln/>
        </p:spPr>
        <p:txBody>
          <a:bodyPr wrap="square" lIns="0" tIns="0" rIns="0" bIns="0" rtlCol="0" anchor="t"/>
          <a:lstStyle/>
          <a:p>
            <a:pPr marL="0" indent="0" algn="l">
              <a:lnSpc>
                <a:spcPct val="110000"/>
              </a:lnSpc>
              <a:buNone/>
            </a:pPr>
            <a:r>
              <a:rPr lang="en-US" sz="1700" b="1" dirty="0">
                <a:solidFill>
                  <a:srgbClr val="2B2545"/>
                </a:solidFill>
                <a:latin typeface="Calibri" pitchFamily="34" charset="0"/>
                <a:ea typeface="Calibri" pitchFamily="34" charset="-122"/>
                <a:cs typeface="Calibri" pitchFamily="34" charset="-120"/>
              </a:rPr>
              <a:t>It keeps the thread</a:t>
            </a:r>
            <a:endParaRPr lang="en-US" sz="1700" dirty="0"/>
          </a:p>
          <a:p>
            <a:pPr marL="0" indent="0" algn="l">
              <a:lnSpc>
                <a:spcPct val="110000"/>
              </a:lnSpc>
              <a:buNone/>
            </a:pPr>
            <a:r>
              <a:rPr lang="en-US" sz="1400" dirty="0">
                <a:solidFill>
                  <a:srgbClr val="5E5678"/>
                </a:solidFill>
                <a:latin typeface="Calibri" pitchFamily="34" charset="0"/>
                <a:ea typeface="Calibri" pitchFamily="34" charset="-122"/>
                <a:cs typeface="Calibri" pitchFamily="34" charset="-120"/>
              </a:rPr>
              <a:t>Your topic and your own words, kept word for word.</a:t>
            </a:r>
            <a:endParaRPr lang="en-US" sz="1700" dirty="0"/>
          </a:p>
        </p:txBody>
      </p:sp>
      <p:sp>
        <p:nvSpPr>
          <p:cNvPr id="19" name="Shape 16"/>
          <p:cNvSpPr/>
          <p:nvPr/>
        </p:nvSpPr>
        <p:spPr>
          <a:xfrm>
            <a:off x="7315200" y="3950208"/>
            <a:ext cx="512064" cy="512064"/>
          </a:xfrm>
          <a:prstGeom prst="ellipse">
            <a:avLst/>
          </a:prstGeom>
          <a:solidFill>
            <a:srgbClr val="231C40"/>
          </a:solidFill>
          <a:ln/>
        </p:spPr>
        <p:txBody>
          <a:bodyPr/>
          <a:lstStyle/>
          <a:p>
            <a:endParaRPr lang="en-US"/>
          </a:p>
        </p:txBody>
      </p:sp>
      <p:pic>
        <p:nvPicPr>
          <p:cNvPr id="20" name="Image 1" descr="/home/claude/tarot-deck/icons/list-gold.png"/>
          <p:cNvPicPr>
            <a:picLocks noChangeAspect="1"/>
          </p:cNvPicPr>
          <p:nvPr/>
        </p:nvPicPr>
        <p:blipFill>
          <a:blip r:embed="rId4"/>
          <a:stretch>
            <a:fillRect/>
          </a:stretch>
        </p:blipFill>
        <p:spPr>
          <a:xfrm>
            <a:off x="7443216" y="4078224"/>
            <a:ext cx="256032" cy="256032"/>
          </a:xfrm>
          <a:prstGeom prst="rect">
            <a:avLst/>
          </a:prstGeom>
        </p:spPr>
      </p:pic>
      <p:sp>
        <p:nvSpPr>
          <p:cNvPr id="21" name="Text 17"/>
          <p:cNvSpPr txBox="1"/>
          <p:nvPr/>
        </p:nvSpPr>
        <p:spPr>
          <a:xfrm>
            <a:off x="8046720" y="3931920"/>
            <a:ext cx="3566160" cy="1280160"/>
          </a:xfrm>
          <a:prstGeom prst="rect">
            <a:avLst/>
          </a:prstGeom>
          <a:noFill/>
          <a:ln/>
        </p:spPr>
        <p:txBody>
          <a:bodyPr wrap="square" lIns="0" tIns="0" rIns="0" bIns="0" rtlCol="0" anchor="t"/>
          <a:lstStyle/>
          <a:p>
            <a:pPr marL="0" indent="0" algn="l">
              <a:lnSpc>
                <a:spcPct val="110000"/>
              </a:lnSpc>
              <a:buNone/>
            </a:pPr>
            <a:r>
              <a:rPr lang="en-US" sz="1700" b="1" dirty="0">
                <a:solidFill>
                  <a:srgbClr val="2B2545"/>
                </a:solidFill>
                <a:latin typeface="Calibri" pitchFamily="34" charset="0"/>
                <a:ea typeface="Calibri" pitchFamily="34" charset="-122"/>
                <a:cs typeface="Calibri" pitchFamily="34" charset="-120"/>
              </a:rPr>
              <a:t>It keeps its story straight</a:t>
            </a:r>
            <a:endParaRPr lang="en-US" sz="1700" dirty="0"/>
          </a:p>
          <a:p>
            <a:pPr marL="0" indent="0" algn="l">
              <a:lnSpc>
                <a:spcPct val="110000"/>
              </a:lnSpc>
              <a:buNone/>
            </a:pPr>
            <a:r>
              <a:rPr lang="en-US" sz="1400" dirty="0">
                <a:solidFill>
                  <a:srgbClr val="5E5678"/>
                </a:solidFill>
                <a:latin typeface="Calibri" pitchFamily="34" charset="0"/>
                <a:ea typeface="Calibri" pitchFamily="34" charset="-122"/>
                <a:cs typeface="Calibri" pitchFamily="34" charset="-120"/>
              </a:rPr>
              <a:t>Every card and reading is on record. No contradictions.</a:t>
            </a:r>
            <a:endParaRPr lang="en-US" sz="1700" dirty="0"/>
          </a:p>
        </p:txBody>
      </p:sp>
      <p:sp>
        <p:nvSpPr>
          <p:cNvPr id="22" name="Text 18"/>
          <p:cNvSpPr txBox="1"/>
          <p:nvPr/>
        </p:nvSpPr>
        <p:spPr>
          <a:xfrm>
            <a:off x="9262872" y="6473952"/>
            <a:ext cx="2377440" cy="274320"/>
          </a:xfrm>
          <a:prstGeom prst="rect">
            <a:avLst/>
          </a:prstGeom>
          <a:noFill/>
          <a:ln/>
        </p:spPr>
        <p:txBody>
          <a:bodyPr wrap="square" lIns="0" tIns="0" rIns="0" bIns="0" rtlCol="0" anchor="ctr"/>
          <a:lstStyle/>
          <a:p>
            <a:pPr marL="0" indent="0" algn="r">
              <a:buNone/>
            </a:pPr>
            <a:r>
              <a:rPr lang="en-US" sz="1000" dirty="0">
                <a:solidFill>
                  <a:srgbClr val="5E5678"/>
                </a:solidFill>
                <a:latin typeface="Calibri" pitchFamily="34" charset="0"/>
                <a:ea typeface="Calibri" pitchFamily="34" charset="-122"/>
                <a:cs typeface="Calibri" pitchFamily="34" charset="-120"/>
              </a:rPr>
              <a:t>AI Tarot Projection  ·  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11480"/>
            <a:ext cx="8229600" cy="320040"/>
          </a:xfrm>
          <a:prstGeom prst="rect">
            <a:avLst/>
          </a:prstGeom>
          <a:noFill/>
          <a:ln/>
        </p:spPr>
        <p:txBody>
          <a:bodyPr wrap="square" lIns="0" tIns="0" rIns="0" bIns="0" rtlCol="0" anchor="ctr"/>
          <a:lstStyle/>
          <a:p>
            <a:pPr marL="0" indent="0" algn="l">
              <a:buNone/>
            </a:pPr>
            <a:r>
              <a:rPr lang="en-US" sz="1300" b="1" kern="0" spc="300" dirty="0">
                <a:solidFill>
                  <a:srgbClr val="8A6C1E"/>
                </a:solidFill>
                <a:latin typeface="Calibri" pitchFamily="34" charset="0"/>
                <a:ea typeface="Calibri" pitchFamily="34" charset="-122"/>
                <a:cs typeface="Calibri" pitchFamily="34" charset="-120"/>
              </a:rPr>
              <a:t>INTERNAL DESIGN · NARRATIVE MAPS</a:t>
            </a:r>
            <a:endParaRPr lang="en-US" sz="1300" dirty="0"/>
          </a:p>
        </p:txBody>
      </p:sp>
      <p:sp>
        <p:nvSpPr>
          <p:cNvPr id="3" name="Text 1"/>
          <p:cNvSpPr txBox="1"/>
          <p:nvPr/>
        </p:nvSpPr>
        <p:spPr>
          <a:xfrm>
            <a:off x="640080" y="731520"/>
            <a:ext cx="10881360" cy="868680"/>
          </a:xfrm>
          <a:prstGeom prst="rect">
            <a:avLst/>
          </a:prstGeom>
          <a:noFill/>
          <a:ln/>
        </p:spPr>
        <p:txBody>
          <a:bodyPr wrap="square" lIns="0" tIns="0" rIns="0" bIns="0" rtlCol="0" anchor="ctr"/>
          <a:lstStyle/>
          <a:p>
            <a:pPr marL="0" indent="0" algn="l">
              <a:buNone/>
            </a:pPr>
            <a:r>
              <a:rPr lang="en-US" sz="3600" b="1" dirty="0">
                <a:solidFill>
                  <a:srgbClr val="2B2545"/>
                </a:solidFill>
                <a:latin typeface="Cambria" pitchFamily="34" charset="0"/>
                <a:ea typeface="Cambria" pitchFamily="34" charset="-122"/>
                <a:cs typeface="Cambria" pitchFamily="34" charset="-120"/>
              </a:rPr>
              <a:t>Questions climb a ladder, one rung at a time</a:t>
            </a:r>
            <a:endParaRPr lang="en-US" sz="3600" dirty="0"/>
          </a:p>
        </p:txBody>
      </p:sp>
      <p:sp>
        <p:nvSpPr>
          <p:cNvPr id="4" name="Shape 2"/>
          <p:cNvSpPr/>
          <p:nvPr/>
        </p:nvSpPr>
        <p:spPr>
          <a:xfrm>
            <a:off x="640080" y="5349240"/>
            <a:ext cx="2011680" cy="713232"/>
          </a:xfrm>
          <a:prstGeom prst="roundRect">
            <a:avLst>
              <a:gd name="adj" fmla="val 7692"/>
            </a:avLst>
          </a:prstGeom>
          <a:solidFill>
            <a:srgbClr val="F6F4FB"/>
          </a:solidFill>
          <a:ln w="12700">
            <a:solidFill>
              <a:srgbClr val="E4DFF0"/>
            </a:solidFill>
            <a:prstDash val="solid"/>
          </a:ln>
        </p:spPr>
        <p:txBody>
          <a:bodyPr/>
          <a:lstStyle/>
          <a:p>
            <a:endParaRPr lang="en-US"/>
          </a:p>
        </p:txBody>
      </p:sp>
      <p:sp>
        <p:nvSpPr>
          <p:cNvPr id="5" name="Text 3"/>
          <p:cNvSpPr txBox="1"/>
          <p:nvPr/>
        </p:nvSpPr>
        <p:spPr>
          <a:xfrm>
            <a:off x="685800" y="5349240"/>
            <a:ext cx="1920240" cy="713232"/>
          </a:xfrm>
          <a:prstGeom prst="rect">
            <a:avLst/>
          </a:prstGeom>
          <a:noFill/>
          <a:ln/>
        </p:spPr>
        <p:txBody>
          <a:bodyPr wrap="square" lIns="0" tIns="0" rIns="0" bIns="0" rtlCol="0" anchor="ctr"/>
          <a:lstStyle/>
          <a:p>
            <a:pPr marL="0" indent="0" algn="ctr">
              <a:buNone/>
            </a:pPr>
            <a:r>
              <a:rPr lang="en-US" sz="1400" b="1" dirty="0">
                <a:solidFill>
                  <a:srgbClr val="2B2545"/>
                </a:solidFill>
                <a:latin typeface="Calibri" pitchFamily="34" charset="0"/>
                <a:ea typeface="Calibri" pitchFamily="34" charset="-122"/>
                <a:cs typeface="Calibri" pitchFamily="34" charset="-120"/>
              </a:rPr>
              <a:t>name</a:t>
            </a:r>
            <a:endParaRPr lang="en-US" sz="1400" dirty="0"/>
          </a:p>
          <a:p>
            <a:pPr marL="0" indent="0" algn="ctr">
              <a:buNone/>
            </a:pPr>
            <a:r>
              <a:rPr lang="en-US" sz="1050" i="1" dirty="0">
                <a:solidFill>
                  <a:srgbClr val="5E5678"/>
                </a:solidFill>
                <a:latin typeface="Calibri" pitchFamily="34" charset="0"/>
                <a:ea typeface="Calibri" pitchFamily="34" charset="-122"/>
                <a:cs typeface="Calibri" pitchFamily="34" charset="-120"/>
              </a:rPr>
              <a:t>what it is</a:t>
            </a:r>
            <a:endParaRPr lang="en-US" sz="1400" dirty="0"/>
          </a:p>
        </p:txBody>
      </p:sp>
      <p:sp>
        <p:nvSpPr>
          <p:cNvPr id="6" name="Shape 4"/>
          <p:cNvSpPr/>
          <p:nvPr/>
        </p:nvSpPr>
        <p:spPr>
          <a:xfrm>
            <a:off x="1591056" y="4617720"/>
            <a:ext cx="2011680" cy="713232"/>
          </a:xfrm>
          <a:prstGeom prst="roundRect">
            <a:avLst>
              <a:gd name="adj" fmla="val 7692"/>
            </a:avLst>
          </a:prstGeom>
          <a:solidFill>
            <a:srgbClr val="F6F4FB"/>
          </a:solidFill>
          <a:ln w="12700">
            <a:solidFill>
              <a:srgbClr val="E4DFF0"/>
            </a:solidFill>
            <a:prstDash val="solid"/>
          </a:ln>
        </p:spPr>
        <p:txBody>
          <a:bodyPr/>
          <a:lstStyle/>
          <a:p>
            <a:endParaRPr lang="en-US"/>
          </a:p>
        </p:txBody>
      </p:sp>
      <p:sp>
        <p:nvSpPr>
          <p:cNvPr id="7" name="Text 5"/>
          <p:cNvSpPr txBox="1"/>
          <p:nvPr/>
        </p:nvSpPr>
        <p:spPr>
          <a:xfrm>
            <a:off x="1636776" y="4617720"/>
            <a:ext cx="1920240" cy="713232"/>
          </a:xfrm>
          <a:prstGeom prst="rect">
            <a:avLst/>
          </a:prstGeom>
          <a:noFill/>
          <a:ln/>
        </p:spPr>
        <p:txBody>
          <a:bodyPr wrap="square" lIns="0" tIns="0" rIns="0" bIns="0" rtlCol="0" anchor="ctr"/>
          <a:lstStyle/>
          <a:p>
            <a:pPr marL="0" indent="0" algn="ctr">
              <a:buNone/>
            </a:pPr>
            <a:r>
              <a:rPr lang="en-US" sz="1400" b="1" dirty="0">
                <a:solidFill>
                  <a:srgbClr val="2B2545"/>
                </a:solidFill>
                <a:latin typeface="Calibri" pitchFamily="34" charset="0"/>
                <a:ea typeface="Calibri" pitchFamily="34" charset="-122"/>
                <a:cs typeface="Calibri" pitchFamily="34" charset="-120"/>
              </a:rPr>
              <a:t>consequences</a:t>
            </a:r>
            <a:endParaRPr lang="en-US" sz="1400" dirty="0"/>
          </a:p>
          <a:p>
            <a:pPr marL="0" indent="0" algn="ctr">
              <a:buNone/>
            </a:pPr>
            <a:r>
              <a:rPr lang="en-US" sz="1050" i="1" dirty="0">
                <a:solidFill>
                  <a:srgbClr val="5E5678"/>
                </a:solidFill>
                <a:latin typeface="Calibri" pitchFamily="34" charset="0"/>
                <a:ea typeface="Calibri" pitchFamily="34" charset="-122"/>
                <a:cs typeface="Calibri" pitchFamily="34" charset="-120"/>
              </a:rPr>
              <a:t>what happens next</a:t>
            </a:r>
            <a:endParaRPr lang="en-US" sz="1400" dirty="0"/>
          </a:p>
        </p:txBody>
      </p:sp>
      <p:sp>
        <p:nvSpPr>
          <p:cNvPr id="8" name="Shape 6"/>
          <p:cNvSpPr/>
          <p:nvPr/>
        </p:nvSpPr>
        <p:spPr>
          <a:xfrm>
            <a:off x="2542032" y="3886200"/>
            <a:ext cx="2011680" cy="713232"/>
          </a:xfrm>
          <a:prstGeom prst="roundRect">
            <a:avLst>
              <a:gd name="adj" fmla="val 7692"/>
            </a:avLst>
          </a:prstGeom>
          <a:solidFill>
            <a:srgbClr val="F6F4FB"/>
          </a:solidFill>
          <a:ln w="12700">
            <a:solidFill>
              <a:srgbClr val="E4DFF0"/>
            </a:solidFill>
            <a:prstDash val="solid"/>
          </a:ln>
        </p:spPr>
        <p:txBody>
          <a:bodyPr/>
          <a:lstStyle/>
          <a:p>
            <a:endParaRPr lang="en-US"/>
          </a:p>
        </p:txBody>
      </p:sp>
      <p:sp>
        <p:nvSpPr>
          <p:cNvPr id="9" name="Text 7"/>
          <p:cNvSpPr txBox="1"/>
          <p:nvPr/>
        </p:nvSpPr>
        <p:spPr>
          <a:xfrm>
            <a:off x="2587752" y="3886200"/>
            <a:ext cx="1920240" cy="713232"/>
          </a:xfrm>
          <a:prstGeom prst="rect">
            <a:avLst/>
          </a:prstGeom>
          <a:noFill/>
          <a:ln/>
        </p:spPr>
        <p:txBody>
          <a:bodyPr wrap="square" lIns="0" tIns="0" rIns="0" bIns="0" rtlCol="0" anchor="ctr"/>
          <a:lstStyle/>
          <a:p>
            <a:pPr marL="0" indent="0" algn="ctr">
              <a:buNone/>
            </a:pPr>
            <a:r>
              <a:rPr lang="en-US" sz="1400" b="1" dirty="0">
                <a:solidFill>
                  <a:srgbClr val="2B2545"/>
                </a:solidFill>
                <a:latin typeface="Calibri" pitchFamily="34" charset="0"/>
                <a:ea typeface="Calibri" pitchFamily="34" charset="-122"/>
                <a:cs typeface="Calibri" pitchFamily="34" charset="-120"/>
              </a:rPr>
              <a:t>evaluate</a:t>
            </a:r>
            <a:endParaRPr lang="en-US" sz="1400" dirty="0"/>
          </a:p>
          <a:p>
            <a:pPr marL="0" indent="0" algn="ctr">
              <a:buNone/>
            </a:pPr>
            <a:r>
              <a:rPr lang="en-US" sz="1050" i="1" dirty="0">
                <a:solidFill>
                  <a:srgbClr val="5E5678"/>
                </a:solidFill>
                <a:latin typeface="Calibri" pitchFamily="34" charset="0"/>
                <a:ea typeface="Calibri" pitchFamily="34" charset="-122"/>
                <a:cs typeface="Calibri" pitchFamily="34" charset="-120"/>
              </a:rPr>
              <a:t>what it's like for you</a:t>
            </a:r>
            <a:endParaRPr lang="en-US" sz="1400" dirty="0"/>
          </a:p>
        </p:txBody>
      </p:sp>
      <p:sp>
        <p:nvSpPr>
          <p:cNvPr id="10" name="Shape 8"/>
          <p:cNvSpPr/>
          <p:nvPr/>
        </p:nvSpPr>
        <p:spPr>
          <a:xfrm>
            <a:off x="3493008" y="3154680"/>
            <a:ext cx="2011680" cy="713232"/>
          </a:xfrm>
          <a:prstGeom prst="roundRect">
            <a:avLst>
              <a:gd name="adj" fmla="val 7692"/>
            </a:avLst>
          </a:prstGeom>
          <a:solidFill>
            <a:srgbClr val="F6F4FB"/>
          </a:solidFill>
          <a:ln w="12700">
            <a:solidFill>
              <a:srgbClr val="E4DFF0"/>
            </a:solidFill>
            <a:prstDash val="solid"/>
          </a:ln>
        </p:spPr>
        <p:txBody>
          <a:bodyPr/>
          <a:lstStyle/>
          <a:p>
            <a:endParaRPr lang="en-US"/>
          </a:p>
        </p:txBody>
      </p:sp>
      <p:sp>
        <p:nvSpPr>
          <p:cNvPr id="11" name="Text 9"/>
          <p:cNvSpPr txBox="1"/>
          <p:nvPr/>
        </p:nvSpPr>
        <p:spPr>
          <a:xfrm>
            <a:off x="3538728" y="3154680"/>
            <a:ext cx="1920240" cy="713232"/>
          </a:xfrm>
          <a:prstGeom prst="rect">
            <a:avLst/>
          </a:prstGeom>
          <a:noFill/>
          <a:ln/>
        </p:spPr>
        <p:txBody>
          <a:bodyPr wrap="square" lIns="0" tIns="0" rIns="0" bIns="0" rtlCol="0" anchor="ctr"/>
          <a:lstStyle/>
          <a:p>
            <a:pPr marL="0" indent="0" algn="ctr">
              <a:buNone/>
            </a:pPr>
            <a:r>
              <a:rPr lang="en-US" sz="1400" b="1" dirty="0">
                <a:solidFill>
                  <a:srgbClr val="2B2545"/>
                </a:solidFill>
                <a:latin typeface="Calibri" pitchFamily="34" charset="0"/>
                <a:ea typeface="Calibri" pitchFamily="34" charset="-122"/>
                <a:cs typeface="Calibri" pitchFamily="34" charset="-120"/>
              </a:rPr>
              <a:t>intentions</a:t>
            </a:r>
            <a:endParaRPr lang="en-US" sz="1400" dirty="0"/>
          </a:p>
          <a:p>
            <a:pPr marL="0" indent="0" algn="ctr">
              <a:buNone/>
            </a:pPr>
            <a:r>
              <a:rPr lang="en-US" sz="1050" i="1" dirty="0">
                <a:solidFill>
                  <a:srgbClr val="5E5678"/>
                </a:solidFill>
                <a:latin typeface="Calibri" pitchFamily="34" charset="0"/>
                <a:ea typeface="Calibri" pitchFamily="34" charset="-122"/>
                <a:cs typeface="Calibri" pitchFamily="34" charset="-120"/>
              </a:rPr>
              <a:t>why it matters</a:t>
            </a:r>
            <a:endParaRPr lang="en-US" sz="1400" dirty="0"/>
          </a:p>
        </p:txBody>
      </p:sp>
      <p:sp>
        <p:nvSpPr>
          <p:cNvPr id="12" name="Shape 10"/>
          <p:cNvSpPr/>
          <p:nvPr/>
        </p:nvSpPr>
        <p:spPr>
          <a:xfrm>
            <a:off x="4443984" y="2423160"/>
            <a:ext cx="2011680" cy="713232"/>
          </a:xfrm>
          <a:prstGeom prst="roundRect">
            <a:avLst>
              <a:gd name="adj" fmla="val 7692"/>
            </a:avLst>
          </a:prstGeom>
          <a:solidFill>
            <a:srgbClr val="231C40"/>
          </a:solidFill>
          <a:ln w="12700">
            <a:solidFill>
              <a:srgbClr val="231C40"/>
            </a:solidFill>
            <a:prstDash val="solid"/>
          </a:ln>
        </p:spPr>
        <p:txBody>
          <a:bodyPr/>
          <a:lstStyle/>
          <a:p>
            <a:endParaRPr lang="en-US"/>
          </a:p>
        </p:txBody>
      </p:sp>
      <p:sp>
        <p:nvSpPr>
          <p:cNvPr id="13" name="Text 11"/>
          <p:cNvSpPr txBox="1"/>
          <p:nvPr/>
        </p:nvSpPr>
        <p:spPr>
          <a:xfrm>
            <a:off x="4489704" y="2423160"/>
            <a:ext cx="1920240" cy="713232"/>
          </a:xfrm>
          <a:prstGeom prst="rect">
            <a:avLst/>
          </a:prstGeom>
          <a:noFill/>
          <a:ln/>
        </p:spPr>
        <p:txBody>
          <a:bodyPr wrap="square" lIns="0" tIns="0" rIns="0" bIns="0" rtlCol="0" anchor="ctr"/>
          <a:lstStyle/>
          <a:p>
            <a:pPr marL="0" indent="0" algn="ctr">
              <a:buNone/>
            </a:pPr>
            <a:r>
              <a:rPr lang="en-US" sz="1400" b="1" dirty="0">
                <a:solidFill>
                  <a:srgbClr val="D9B45E"/>
                </a:solidFill>
                <a:latin typeface="Calibri" pitchFamily="34" charset="0"/>
                <a:ea typeface="Calibri" pitchFamily="34" charset="-122"/>
                <a:cs typeface="Calibri" pitchFamily="34" charset="-120"/>
              </a:rPr>
              <a:t>plans</a:t>
            </a:r>
            <a:endParaRPr lang="en-US" sz="1400" dirty="0"/>
          </a:p>
          <a:p>
            <a:pPr marL="0" indent="0" algn="ctr">
              <a:buNone/>
            </a:pPr>
            <a:r>
              <a:rPr lang="en-US" sz="1050" i="1" dirty="0">
                <a:solidFill>
                  <a:srgbClr val="A79FC4"/>
                </a:solidFill>
                <a:latin typeface="Calibri" pitchFamily="34" charset="0"/>
                <a:ea typeface="Calibri" pitchFamily="34" charset="-122"/>
                <a:cs typeface="Calibri" pitchFamily="34" charset="-120"/>
              </a:rPr>
              <a:t>what you'll do</a:t>
            </a:r>
            <a:endParaRPr lang="en-US" sz="1400" dirty="0"/>
          </a:p>
        </p:txBody>
      </p:sp>
      <p:sp>
        <p:nvSpPr>
          <p:cNvPr id="14" name="Text 12"/>
          <p:cNvSpPr txBox="1"/>
          <p:nvPr/>
        </p:nvSpPr>
        <p:spPr>
          <a:xfrm>
            <a:off x="640080" y="6199632"/>
            <a:ext cx="6217920" cy="274320"/>
          </a:xfrm>
          <a:prstGeom prst="rect">
            <a:avLst/>
          </a:prstGeom>
          <a:noFill/>
          <a:ln/>
        </p:spPr>
        <p:txBody>
          <a:bodyPr wrap="square" lIns="0" tIns="0" rIns="0" bIns="0" rtlCol="0" anchor="ctr"/>
          <a:lstStyle/>
          <a:p>
            <a:pPr marL="0" indent="0">
              <a:buNone/>
            </a:pPr>
            <a:r>
              <a:rPr lang="en-US" sz="1150" i="1" dirty="0">
                <a:solidFill>
                  <a:srgbClr val="5E5678"/>
                </a:solidFill>
                <a:latin typeface="Calibri" pitchFamily="34" charset="0"/>
                <a:ea typeface="Calibri" pitchFamily="34" charset="-122"/>
                <a:cs typeface="Calibri" pitchFamily="34" charset="-120"/>
              </a:rPr>
              <a:t>The scaffolding map from narrative therapy (White, 2007). The person never hears the levels named.</a:t>
            </a:r>
            <a:endParaRPr lang="en-US" sz="1150" dirty="0"/>
          </a:p>
        </p:txBody>
      </p:sp>
      <p:sp>
        <p:nvSpPr>
          <p:cNvPr id="15" name="Shape 13"/>
          <p:cNvSpPr/>
          <p:nvPr/>
        </p:nvSpPr>
        <p:spPr>
          <a:xfrm>
            <a:off x="7315200" y="1984248"/>
            <a:ext cx="512064" cy="512064"/>
          </a:xfrm>
          <a:prstGeom prst="ellipse">
            <a:avLst/>
          </a:prstGeom>
          <a:solidFill>
            <a:srgbClr val="231C40"/>
          </a:solidFill>
          <a:ln/>
        </p:spPr>
        <p:txBody>
          <a:bodyPr/>
          <a:lstStyle/>
          <a:p>
            <a:endParaRPr lang="en-US"/>
          </a:p>
        </p:txBody>
      </p:sp>
      <p:pic>
        <p:nvPicPr>
          <p:cNvPr id="16" name="Image 0" descr="/home/claude/tarot-deck/icons/trending-gold.png"/>
          <p:cNvPicPr>
            <a:picLocks noChangeAspect="1"/>
          </p:cNvPicPr>
          <p:nvPr/>
        </p:nvPicPr>
        <p:blipFill>
          <a:blip r:embed="rId3"/>
          <a:stretch>
            <a:fillRect/>
          </a:stretch>
        </p:blipFill>
        <p:spPr>
          <a:xfrm>
            <a:off x="7443216" y="2112264"/>
            <a:ext cx="256032" cy="256032"/>
          </a:xfrm>
          <a:prstGeom prst="rect">
            <a:avLst/>
          </a:prstGeom>
        </p:spPr>
      </p:pic>
      <p:sp>
        <p:nvSpPr>
          <p:cNvPr id="17" name="Text 14"/>
          <p:cNvSpPr txBox="1"/>
          <p:nvPr/>
        </p:nvSpPr>
        <p:spPr>
          <a:xfrm>
            <a:off x="8046720" y="1965960"/>
            <a:ext cx="3566160" cy="1097280"/>
          </a:xfrm>
          <a:prstGeom prst="rect">
            <a:avLst/>
          </a:prstGeom>
          <a:noFill/>
          <a:ln/>
        </p:spPr>
        <p:txBody>
          <a:bodyPr wrap="square" lIns="0" tIns="0" rIns="0" bIns="0" rtlCol="0" anchor="t"/>
          <a:lstStyle/>
          <a:p>
            <a:pPr marL="0" indent="0" algn="l">
              <a:lnSpc>
                <a:spcPct val="110000"/>
              </a:lnSpc>
              <a:buNone/>
            </a:pPr>
            <a:r>
              <a:rPr lang="en-US" sz="1700" b="1" dirty="0">
                <a:solidFill>
                  <a:srgbClr val="2B2545"/>
                </a:solidFill>
                <a:latin typeface="Calibri" pitchFamily="34" charset="0"/>
                <a:ea typeface="Calibri" pitchFamily="34" charset="-122"/>
                <a:cs typeface="Calibri" pitchFamily="34" charset="-120"/>
              </a:rPr>
              <a:t>One rung above you, never two</a:t>
            </a:r>
            <a:endParaRPr lang="en-US" sz="1700" dirty="0"/>
          </a:p>
          <a:p>
            <a:pPr marL="0" indent="0" algn="l">
              <a:lnSpc>
                <a:spcPct val="110000"/>
              </a:lnSpc>
              <a:buNone/>
            </a:pPr>
            <a:r>
              <a:rPr lang="en-US" sz="1400" dirty="0">
                <a:solidFill>
                  <a:srgbClr val="5E5678"/>
                </a:solidFill>
                <a:latin typeface="Calibri" pitchFamily="34" charset="0"/>
                <a:ea typeface="Calibri" pitchFamily="34" charset="-122"/>
                <a:cs typeface="Calibri" pitchFamily="34" charset="-120"/>
              </a:rPr>
              <a:t>Two steps out is an answer you'd have to invent.</a:t>
            </a:r>
            <a:endParaRPr lang="en-US" sz="1700" dirty="0"/>
          </a:p>
        </p:txBody>
      </p:sp>
      <p:sp>
        <p:nvSpPr>
          <p:cNvPr id="18" name="Shape 15"/>
          <p:cNvSpPr/>
          <p:nvPr/>
        </p:nvSpPr>
        <p:spPr>
          <a:xfrm>
            <a:off x="7315200" y="3355848"/>
            <a:ext cx="512064" cy="512064"/>
          </a:xfrm>
          <a:prstGeom prst="ellipse">
            <a:avLst/>
          </a:prstGeom>
          <a:solidFill>
            <a:srgbClr val="231C40"/>
          </a:solidFill>
          <a:ln/>
        </p:spPr>
        <p:txBody>
          <a:bodyPr/>
          <a:lstStyle/>
          <a:p>
            <a:endParaRPr lang="en-US"/>
          </a:p>
        </p:txBody>
      </p:sp>
      <p:pic>
        <p:nvPicPr>
          <p:cNvPr id="19" name="Image 1" descr="/home/claude/tarot-deck/icons/repeat-gold.png"/>
          <p:cNvPicPr>
            <a:picLocks noChangeAspect="1"/>
          </p:cNvPicPr>
          <p:nvPr/>
        </p:nvPicPr>
        <p:blipFill>
          <a:blip r:embed="rId4"/>
          <a:stretch>
            <a:fillRect/>
          </a:stretch>
        </p:blipFill>
        <p:spPr>
          <a:xfrm>
            <a:off x="7443216" y="3483864"/>
            <a:ext cx="256032" cy="256032"/>
          </a:xfrm>
          <a:prstGeom prst="rect">
            <a:avLst/>
          </a:prstGeom>
        </p:spPr>
      </p:pic>
      <p:sp>
        <p:nvSpPr>
          <p:cNvPr id="20" name="Text 16"/>
          <p:cNvSpPr txBox="1"/>
          <p:nvPr/>
        </p:nvSpPr>
        <p:spPr>
          <a:xfrm>
            <a:off x="8046720" y="3337560"/>
            <a:ext cx="3566160" cy="1097280"/>
          </a:xfrm>
          <a:prstGeom prst="rect">
            <a:avLst/>
          </a:prstGeom>
          <a:noFill/>
          <a:ln/>
        </p:spPr>
        <p:txBody>
          <a:bodyPr wrap="square" lIns="0" tIns="0" rIns="0" bIns="0" rtlCol="0" anchor="t"/>
          <a:lstStyle/>
          <a:p>
            <a:pPr marL="0" indent="0" algn="l">
              <a:lnSpc>
                <a:spcPct val="110000"/>
              </a:lnSpc>
              <a:buNone/>
            </a:pPr>
            <a:r>
              <a:rPr lang="en-US" sz="1700" b="1" dirty="0">
                <a:solidFill>
                  <a:srgbClr val="2B2545"/>
                </a:solidFill>
                <a:latin typeface="Calibri" pitchFamily="34" charset="0"/>
                <a:ea typeface="Calibri" pitchFamily="34" charset="-122"/>
                <a:cs typeface="Calibri" pitchFamily="34" charset="-120"/>
              </a:rPr>
              <a:t>Two tracks: the picture, and your life</a:t>
            </a:r>
            <a:endParaRPr lang="en-US" sz="1700" dirty="0"/>
          </a:p>
          <a:p>
            <a:pPr marL="0" indent="0" algn="l">
              <a:lnSpc>
                <a:spcPct val="110000"/>
              </a:lnSpc>
              <a:buNone/>
            </a:pPr>
            <a:r>
              <a:rPr lang="en-US" sz="1400" dirty="0">
                <a:solidFill>
                  <a:srgbClr val="5E5678"/>
                </a:solidFill>
                <a:latin typeface="Calibri" pitchFamily="34" charset="0"/>
                <a:ea typeface="Calibri" pitchFamily="34" charset="-122"/>
                <a:cs typeface="Calibri" pitchFamily="34" charset="-120"/>
              </a:rPr>
              <a:t>Moving between them is a step of its own.</a:t>
            </a:r>
            <a:endParaRPr lang="en-US" sz="1700" dirty="0"/>
          </a:p>
        </p:txBody>
      </p:sp>
      <p:sp>
        <p:nvSpPr>
          <p:cNvPr id="21" name="Shape 17"/>
          <p:cNvSpPr/>
          <p:nvPr/>
        </p:nvSpPr>
        <p:spPr>
          <a:xfrm>
            <a:off x="7315200" y="4727448"/>
            <a:ext cx="512064" cy="512064"/>
          </a:xfrm>
          <a:prstGeom prst="ellipse">
            <a:avLst/>
          </a:prstGeom>
          <a:solidFill>
            <a:srgbClr val="231C40"/>
          </a:solidFill>
          <a:ln/>
        </p:spPr>
        <p:txBody>
          <a:bodyPr/>
          <a:lstStyle/>
          <a:p>
            <a:endParaRPr lang="en-US"/>
          </a:p>
        </p:txBody>
      </p:sp>
      <p:pic>
        <p:nvPicPr>
          <p:cNvPr id="22" name="Image 2" descr="/home/claude/tarot-deck/icons/heart-gold.png"/>
          <p:cNvPicPr>
            <a:picLocks noChangeAspect="1"/>
          </p:cNvPicPr>
          <p:nvPr/>
        </p:nvPicPr>
        <p:blipFill>
          <a:blip r:embed="rId5"/>
          <a:stretch>
            <a:fillRect/>
          </a:stretch>
        </p:blipFill>
        <p:spPr>
          <a:xfrm>
            <a:off x="7443216" y="4855464"/>
            <a:ext cx="256032" cy="256032"/>
          </a:xfrm>
          <a:prstGeom prst="rect">
            <a:avLst/>
          </a:prstGeom>
        </p:spPr>
      </p:pic>
      <p:sp>
        <p:nvSpPr>
          <p:cNvPr id="23" name="Text 18"/>
          <p:cNvSpPr txBox="1"/>
          <p:nvPr/>
        </p:nvSpPr>
        <p:spPr>
          <a:xfrm>
            <a:off x="8046720" y="4709160"/>
            <a:ext cx="3566160" cy="1097280"/>
          </a:xfrm>
          <a:prstGeom prst="rect">
            <a:avLst/>
          </a:prstGeom>
          <a:noFill/>
          <a:ln/>
        </p:spPr>
        <p:txBody>
          <a:bodyPr wrap="square" lIns="0" tIns="0" rIns="0" bIns="0" rtlCol="0" anchor="t"/>
          <a:lstStyle/>
          <a:p>
            <a:pPr marL="0" indent="0" algn="l">
              <a:lnSpc>
                <a:spcPct val="110000"/>
              </a:lnSpc>
              <a:buNone/>
            </a:pPr>
            <a:r>
              <a:rPr lang="en-US" sz="1700" b="1" dirty="0">
                <a:solidFill>
                  <a:srgbClr val="2B2545"/>
                </a:solidFill>
                <a:latin typeface="Calibri" pitchFamily="34" charset="0"/>
                <a:ea typeface="Calibri" pitchFamily="34" charset="-122"/>
                <a:cs typeface="Calibri" pitchFamily="34" charset="-120"/>
              </a:rPr>
              <a:t>A dodge is respected</a:t>
            </a:r>
            <a:endParaRPr lang="en-US" sz="1700" dirty="0"/>
          </a:p>
          <a:p>
            <a:pPr marL="0" indent="0" algn="l">
              <a:lnSpc>
                <a:spcPct val="110000"/>
              </a:lnSpc>
              <a:buNone/>
            </a:pPr>
            <a:r>
              <a:rPr lang="en-US" sz="1400" dirty="0">
                <a:solidFill>
                  <a:srgbClr val="5E5678"/>
                </a:solidFill>
                <a:latin typeface="Calibri" pitchFamily="34" charset="0"/>
                <a:ea typeface="Calibri" pitchFamily="34" charset="-122"/>
                <a:cs typeface="Calibri" pitchFamily="34" charset="-120"/>
              </a:rPr>
              <a:t>It backs off and asks something smaller, more concrete.</a:t>
            </a:r>
            <a:endParaRPr lang="en-US" sz="1700" dirty="0"/>
          </a:p>
        </p:txBody>
      </p:sp>
      <p:sp>
        <p:nvSpPr>
          <p:cNvPr id="24" name="Text 19"/>
          <p:cNvSpPr txBox="1"/>
          <p:nvPr/>
        </p:nvSpPr>
        <p:spPr>
          <a:xfrm>
            <a:off x="9262872" y="6473952"/>
            <a:ext cx="2377440" cy="274320"/>
          </a:xfrm>
          <a:prstGeom prst="rect">
            <a:avLst/>
          </a:prstGeom>
          <a:noFill/>
          <a:ln/>
        </p:spPr>
        <p:txBody>
          <a:bodyPr wrap="square" lIns="0" tIns="0" rIns="0" bIns="0" rtlCol="0" anchor="ctr"/>
          <a:lstStyle/>
          <a:p>
            <a:pPr marL="0" indent="0" algn="r">
              <a:buNone/>
            </a:pPr>
            <a:r>
              <a:rPr lang="en-US" sz="1000" dirty="0">
                <a:solidFill>
                  <a:srgbClr val="5E5678"/>
                </a:solidFill>
                <a:latin typeface="Calibri" pitchFamily="34" charset="0"/>
                <a:ea typeface="Calibri" pitchFamily="34" charset="-122"/>
                <a:cs typeface="Calibri" pitchFamily="34" charset="-120"/>
              </a:rPr>
              <a:t>AI Tarot Projection  ·  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11480"/>
            <a:ext cx="8229600" cy="320040"/>
          </a:xfrm>
          <a:prstGeom prst="rect">
            <a:avLst/>
          </a:prstGeom>
          <a:noFill/>
          <a:ln/>
        </p:spPr>
        <p:txBody>
          <a:bodyPr wrap="square" lIns="0" tIns="0" rIns="0" bIns="0" rtlCol="0" anchor="ctr"/>
          <a:lstStyle/>
          <a:p>
            <a:pPr marL="0" indent="0" algn="l">
              <a:buNone/>
            </a:pPr>
            <a:r>
              <a:rPr lang="en-US" sz="1300" b="1" kern="0" spc="300" dirty="0">
                <a:solidFill>
                  <a:srgbClr val="8A6C1E"/>
                </a:solidFill>
                <a:latin typeface="Calibri" pitchFamily="34" charset="0"/>
                <a:ea typeface="Calibri" pitchFamily="34" charset="-122"/>
                <a:cs typeface="Calibri" pitchFamily="34" charset="-120"/>
              </a:rPr>
              <a:t>INTERNAL DESIGN · PROMPT ASSEMBLY</a:t>
            </a:r>
            <a:endParaRPr lang="en-US" sz="1300" dirty="0"/>
          </a:p>
        </p:txBody>
      </p:sp>
      <p:sp>
        <p:nvSpPr>
          <p:cNvPr id="3" name="Text 1"/>
          <p:cNvSpPr txBox="1"/>
          <p:nvPr/>
        </p:nvSpPr>
        <p:spPr>
          <a:xfrm>
            <a:off x="640080" y="731520"/>
            <a:ext cx="10881360" cy="868680"/>
          </a:xfrm>
          <a:prstGeom prst="rect">
            <a:avLst/>
          </a:prstGeom>
          <a:noFill/>
          <a:ln/>
        </p:spPr>
        <p:txBody>
          <a:bodyPr wrap="square" lIns="0" tIns="0" rIns="0" bIns="0" rtlCol="0" anchor="ctr"/>
          <a:lstStyle/>
          <a:p>
            <a:pPr marL="0" indent="0" algn="l">
              <a:buNone/>
            </a:pPr>
            <a:r>
              <a:rPr lang="en-US" sz="3600" b="1" dirty="0">
                <a:solidFill>
                  <a:srgbClr val="2B2545"/>
                </a:solidFill>
                <a:latin typeface="Cambria" pitchFamily="34" charset="0"/>
                <a:ea typeface="Cambria" pitchFamily="34" charset="-122"/>
                <a:cs typeface="Cambria" pitchFamily="34" charset="-120"/>
              </a:rPr>
              <a:t>What the AI reads before each reply</a:t>
            </a:r>
            <a:endParaRPr lang="en-US" sz="3600" dirty="0"/>
          </a:p>
        </p:txBody>
      </p:sp>
      <p:sp>
        <p:nvSpPr>
          <p:cNvPr id="4" name="Shape 2"/>
          <p:cNvSpPr/>
          <p:nvPr/>
        </p:nvSpPr>
        <p:spPr>
          <a:xfrm>
            <a:off x="640080" y="1920240"/>
            <a:ext cx="6126480" cy="1371600"/>
          </a:xfrm>
          <a:prstGeom prst="roundRect">
            <a:avLst>
              <a:gd name="adj" fmla="val 5333"/>
            </a:avLst>
          </a:prstGeom>
          <a:solidFill>
            <a:srgbClr val="231C40"/>
          </a:solidFill>
          <a:ln/>
        </p:spPr>
        <p:txBody>
          <a:bodyPr/>
          <a:lstStyle/>
          <a:p>
            <a:endParaRPr lang="en-US"/>
          </a:p>
        </p:txBody>
      </p:sp>
      <p:sp>
        <p:nvSpPr>
          <p:cNvPr id="5" name="Text 3"/>
          <p:cNvSpPr txBox="1"/>
          <p:nvPr/>
        </p:nvSpPr>
        <p:spPr>
          <a:xfrm>
            <a:off x="914400" y="1920240"/>
            <a:ext cx="5577840" cy="1371600"/>
          </a:xfrm>
          <a:prstGeom prst="rect">
            <a:avLst/>
          </a:prstGeom>
          <a:noFill/>
          <a:ln/>
        </p:spPr>
        <p:txBody>
          <a:bodyPr wrap="square" lIns="0" tIns="0" rIns="0" bIns="0" rtlCol="0" anchor="ctr"/>
          <a:lstStyle/>
          <a:p>
            <a:pPr marL="0" indent="0">
              <a:lnSpc>
                <a:spcPct val="115000"/>
              </a:lnSpc>
              <a:buNone/>
            </a:pPr>
            <a:r>
              <a:rPr lang="en-US" sz="1500" b="1" dirty="0">
                <a:solidFill>
                  <a:srgbClr val="D9B45E"/>
                </a:solidFill>
                <a:latin typeface="Calibri" pitchFamily="34" charset="0"/>
                <a:ea typeface="Calibri" pitchFamily="34" charset="-122"/>
                <a:cs typeface="Calibri" pitchFamily="34" charset="-120"/>
              </a:rPr>
              <a:t>THE RULEBOOK</a:t>
            </a:r>
            <a:endParaRPr lang="en-US" sz="1500" dirty="0"/>
          </a:p>
          <a:p>
            <a:pPr marL="0" indent="0">
              <a:lnSpc>
                <a:spcPct val="115000"/>
              </a:lnSpc>
              <a:buNone/>
            </a:pPr>
            <a:r>
              <a:rPr lang="en-US" sz="1350" dirty="0">
                <a:solidFill>
                  <a:srgbClr val="FFFFFF"/>
                </a:solidFill>
                <a:latin typeface="Calibri" pitchFamily="34" charset="0"/>
                <a:ea typeface="Calibri" pitchFamily="34" charset="-122"/>
                <a:cs typeface="Calibri" pitchFamily="34" charset="-120"/>
              </a:rPr>
              <a:t>who the reader is · example readings · the rules · the spread · your topic</a:t>
            </a:r>
            <a:endParaRPr lang="en-US" sz="1500" dirty="0"/>
          </a:p>
        </p:txBody>
      </p:sp>
      <p:sp>
        <p:nvSpPr>
          <p:cNvPr id="6" name="Text 4"/>
          <p:cNvSpPr txBox="1"/>
          <p:nvPr/>
        </p:nvSpPr>
        <p:spPr>
          <a:xfrm>
            <a:off x="6949440" y="2194560"/>
            <a:ext cx="4937760" cy="822960"/>
          </a:xfrm>
          <a:prstGeom prst="rect">
            <a:avLst/>
          </a:prstGeom>
          <a:noFill/>
          <a:ln/>
        </p:spPr>
        <p:txBody>
          <a:bodyPr wrap="square" lIns="0" tIns="0" rIns="0" bIns="0" rtlCol="0" anchor="ctr"/>
          <a:lstStyle/>
          <a:p>
            <a:pPr marL="0" indent="0">
              <a:lnSpc>
                <a:spcPct val="110000"/>
              </a:lnSpc>
              <a:buNone/>
            </a:pPr>
            <a:r>
              <a:rPr lang="en-US" sz="1300" i="1" dirty="0">
                <a:solidFill>
                  <a:srgbClr val="5E5678"/>
                </a:solidFill>
                <a:latin typeface="Calibri" pitchFamily="34" charset="0"/>
                <a:ea typeface="Calibri" pitchFamily="34" charset="-122"/>
                <a:cs typeface="Calibri" pitchFamily="34" charset="-120"/>
              </a:rPr>
              <a:t>never changes during a session,</a:t>
            </a:r>
            <a:endParaRPr lang="en-US" sz="1300" dirty="0"/>
          </a:p>
          <a:p>
            <a:pPr marL="0" indent="0">
              <a:lnSpc>
                <a:spcPct val="110000"/>
              </a:lnSpc>
              <a:buNone/>
            </a:pPr>
            <a:r>
              <a:rPr lang="en-US" sz="1300" i="1" dirty="0">
                <a:solidFill>
                  <a:srgbClr val="5E5678"/>
                </a:solidFill>
                <a:latin typeface="Calibri" pitchFamily="34" charset="0"/>
                <a:ea typeface="Calibri" pitchFamily="34" charset="-122"/>
                <a:cs typeface="Calibri" pitchFamily="34" charset="-120"/>
              </a:rPr>
              <a:t>so it can be cached: faster, cheaper</a:t>
            </a:r>
            <a:endParaRPr lang="en-US" sz="1300" dirty="0"/>
          </a:p>
        </p:txBody>
      </p:sp>
      <p:sp>
        <p:nvSpPr>
          <p:cNvPr id="7" name="Shape 5"/>
          <p:cNvSpPr/>
          <p:nvPr/>
        </p:nvSpPr>
        <p:spPr>
          <a:xfrm>
            <a:off x="640080" y="3429000"/>
            <a:ext cx="6126480" cy="1005840"/>
          </a:xfrm>
          <a:prstGeom prst="roundRect">
            <a:avLst>
              <a:gd name="adj" fmla="val 7273"/>
            </a:avLst>
          </a:prstGeom>
          <a:solidFill>
            <a:srgbClr val="F6F4FB"/>
          </a:solidFill>
          <a:ln w="12700">
            <a:solidFill>
              <a:srgbClr val="E4DFF0"/>
            </a:solidFill>
            <a:prstDash val="solid"/>
          </a:ln>
        </p:spPr>
        <p:txBody>
          <a:bodyPr/>
          <a:lstStyle/>
          <a:p>
            <a:endParaRPr lang="en-US"/>
          </a:p>
        </p:txBody>
      </p:sp>
      <p:sp>
        <p:nvSpPr>
          <p:cNvPr id="8" name="Text 6"/>
          <p:cNvSpPr txBox="1"/>
          <p:nvPr/>
        </p:nvSpPr>
        <p:spPr>
          <a:xfrm>
            <a:off x="914400" y="3429000"/>
            <a:ext cx="5577840" cy="1005840"/>
          </a:xfrm>
          <a:prstGeom prst="rect">
            <a:avLst/>
          </a:prstGeom>
          <a:noFill/>
          <a:ln/>
        </p:spPr>
        <p:txBody>
          <a:bodyPr wrap="square" lIns="0" tIns="0" rIns="0" bIns="0" rtlCol="0" anchor="ctr"/>
          <a:lstStyle/>
          <a:p>
            <a:pPr marL="0" indent="0">
              <a:lnSpc>
                <a:spcPct val="115000"/>
              </a:lnSpc>
              <a:buNone/>
            </a:pPr>
            <a:r>
              <a:rPr lang="en-US" sz="1500" b="1" dirty="0">
                <a:solidFill>
                  <a:srgbClr val="2B2545"/>
                </a:solidFill>
                <a:latin typeface="Calibri" pitchFamily="34" charset="0"/>
                <a:ea typeface="Calibri" pitchFamily="34" charset="-122"/>
                <a:cs typeface="Calibri" pitchFamily="34" charset="-120"/>
              </a:rPr>
              <a:t>RECENT CONVERSATION</a:t>
            </a:r>
            <a:endParaRPr lang="en-US" sz="1500" dirty="0"/>
          </a:p>
          <a:p>
            <a:pPr marL="0" indent="0">
              <a:lnSpc>
                <a:spcPct val="115000"/>
              </a:lnSpc>
              <a:buNone/>
            </a:pPr>
            <a:r>
              <a:rPr lang="en-US" sz="1350" dirty="0">
                <a:solidFill>
                  <a:srgbClr val="5E5678"/>
                </a:solidFill>
                <a:latin typeface="Calibri" pitchFamily="34" charset="0"/>
                <a:ea typeface="Calibri" pitchFamily="34" charset="-122"/>
                <a:cs typeface="Calibri" pitchFamily="34" charset="-120"/>
              </a:rPr>
              <a:t>only the last 10 exchanges</a:t>
            </a:r>
            <a:endParaRPr lang="en-US" sz="1500" dirty="0"/>
          </a:p>
        </p:txBody>
      </p:sp>
      <p:sp>
        <p:nvSpPr>
          <p:cNvPr id="9" name="Text 7"/>
          <p:cNvSpPr txBox="1"/>
          <p:nvPr/>
        </p:nvSpPr>
        <p:spPr>
          <a:xfrm>
            <a:off x="6949440" y="3520440"/>
            <a:ext cx="4937760" cy="822960"/>
          </a:xfrm>
          <a:prstGeom prst="rect">
            <a:avLst/>
          </a:prstGeom>
          <a:noFill/>
          <a:ln/>
        </p:spPr>
        <p:txBody>
          <a:bodyPr wrap="square" lIns="0" tIns="0" rIns="0" bIns="0" rtlCol="0" anchor="ctr"/>
          <a:lstStyle/>
          <a:p>
            <a:pPr marL="0" indent="0">
              <a:lnSpc>
                <a:spcPct val="110000"/>
              </a:lnSpc>
              <a:buNone/>
            </a:pPr>
            <a:r>
              <a:rPr lang="en-US" sz="1300" i="1" dirty="0">
                <a:solidFill>
                  <a:srgbClr val="5E5678"/>
                </a:solidFill>
                <a:latin typeface="Calibri" pitchFamily="34" charset="0"/>
                <a:ea typeface="Calibri" pitchFamily="34" charset="-122"/>
                <a:cs typeface="Calibri" pitchFamily="34" charset="-120"/>
              </a:rPr>
              <a:t>keeps the voice natural;</a:t>
            </a:r>
            <a:endParaRPr lang="en-US" sz="1300" dirty="0"/>
          </a:p>
          <a:p>
            <a:pPr marL="0" indent="0">
              <a:lnSpc>
                <a:spcPct val="110000"/>
              </a:lnSpc>
              <a:buNone/>
            </a:pPr>
            <a:r>
              <a:rPr lang="en-US" sz="1300" i="1" dirty="0">
                <a:solidFill>
                  <a:srgbClr val="5E5678"/>
                </a:solidFill>
                <a:latin typeface="Calibri" pitchFamily="34" charset="0"/>
                <a:ea typeface="Calibri" pitchFamily="34" charset="-122"/>
                <a:cs typeface="Calibri" pitchFamily="34" charset="-120"/>
              </a:rPr>
              <a:t>the facts live in the box below</a:t>
            </a:r>
            <a:endParaRPr lang="en-US" sz="1300" dirty="0"/>
          </a:p>
        </p:txBody>
      </p:sp>
      <p:sp>
        <p:nvSpPr>
          <p:cNvPr id="10" name="Shape 8"/>
          <p:cNvSpPr/>
          <p:nvPr/>
        </p:nvSpPr>
        <p:spPr>
          <a:xfrm>
            <a:off x="640080" y="4572000"/>
            <a:ext cx="6126480" cy="1371600"/>
          </a:xfrm>
          <a:prstGeom prst="roundRect">
            <a:avLst>
              <a:gd name="adj" fmla="val 5333"/>
            </a:avLst>
          </a:prstGeom>
          <a:solidFill>
            <a:srgbClr val="FFFFFF"/>
          </a:solidFill>
          <a:ln w="25400">
            <a:solidFill>
              <a:srgbClr val="C9A24B"/>
            </a:solidFill>
            <a:prstDash val="solid"/>
          </a:ln>
        </p:spPr>
        <p:txBody>
          <a:bodyPr/>
          <a:lstStyle/>
          <a:p>
            <a:endParaRPr lang="en-US"/>
          </a:p>
        </p:txBody>
      </p:sp>
      <p:sp>
        <p:nvSpPr>
          <p:cNvPr id="11" name="Text 9"/>
          <p:cNvSpPr txBox="1"/>
          <p:nvPr/>
        </p:nvSpPr>
        <p:spPr>
          <a:xfrm>
            <a:off x="914400" y="4572000"/>
            <a:ext cx="5577840" cy="1371600"/>
          </a:xfrm>
          <a:prstGeom prst="rect">
            <a:avLst/>
          </a:prstGeom>
          <a:noFill/>
          <a:ln/>
        </p:spPr>
        <p:txBody>
          <a:bodyPr wrap="square" lIns="0" tIns="0" rIns="0" bIns="0" rtlCol="0" anchor="ctr"/>
          <a:lstStyle/>
          <a:p>
            <a:pPr marL="0" indent="0">
              <a:lnSpc>
                <a:spcPct val="115000"/>
              </a:lnSpc>
              <a:buNone/>
            </a:pPr>
            <a:r>
              <a:rPr lang="en-US" sz="1500" b="1" dirty="0">
                <a:solidFill>
                  <a:srgbClr val="8A6C1E"/>
                </a:solidFill>
                <a:latin typeface="Calibri" pitchFamily="34" charset="0"/>
                <a:ea typeface="Calibri" pitchFamily="34" charset="-122"/>
                <a:cs typeface="Calibri" pitchFamily="34" charset="-120"/>
              </a:rPr>
              <a:t>THE SESSION SO FAR</a:t>
            </a:r>
            <a:endParaRPr lang="en-US" sz="1500" dirty="0"/>
          </a:p>
          <a:p>
            <a:pPr marL="0" indent="0">
              <a:lnSpc>
                <a:spcPct val="115000"/>
              </a:lnSpc>
              <a:buNone/>
            </a:pPr>
            <a:r>
              <a:rPr lang="en-US" sz="1350" dirty="0">
                <a:solidFill>
                  <a:srgbClr val="2B2545"/>
                </a:solidFill>
                <a:latin typeface="Calibri" pitchFamily="34" charset="0"/>
                <a:ea typeface="Calibri" pitchFamily="34" charset="-122"/>
                <a:cs typeface="Calibri" pitchFamily="34" charset="-120"/>
              </a:rPr>
              <a:t>your topic, in your words · each card's reading · what this turn should do</a:t>
            </a:r>
            <a:endParaRPr lang="en-US" sz="1500" dirty="0"/>
          </a:p>
        </p:txBody>
      </p:sp>
      <p:sp>
        <p:nvSpPr>
          <p:cNvPr id="12" name="Text 10"/>
          <p:cNvSpPr txBox="1"/>
          <p:nvPr/>
        </p:nvSpPr>
        <p:spPr>
          <a:xfrm>
            <a:off x="6949440" y="4846320"/>
            <a:ext cx="4937760" cy="822960"/>
          </a:xfrm>
          <a:prstGeom prst="rect">
            <a:avLst/>
          </a:prstGeom>
          <a:noFill/>
          <a:ln/>
        </p:spPr>
        <p:txBody>
          <a:bodyPr wrap="square" lIns="0" tIns="0" rIns="0" bIns="0" rtlCol="0" anchor="ctr"/>
          <a:lstStyle/>
          <a:p>
            <a:pPr marL="0" indent="0">
              <a:lnSpc>
                <a:spcPct val="110000"/>
              </a:lnSpc>
              <a:buNone/>
            </a:pPr>
            <a:r>
              <a:rPr lang="en-US" sz="1300" i="1" dirty="0">
                <a:solidFill>
                  <a:srgbClr val="5E5678"/>
                </a:solidFill>
                <a:latin typeface="Calibri" pitchFamily="34" charset="0"/>
                <a:ea typeface="Calibri" pitchFamily="34" charset="-122"/>
                <a:cs typeface="Calibri" pitchFamily="34" charset="-120"/>
              </a:rPr>
              <a:t>rebuilt fresh every turn; when this and</a:t>
            </a:r>
            <a:endParaRPr lang="en-US" sz="1300" dirty="0"/>
          </a:p>
          <a:p>
            <a:pPr marL="0" indent="0">
              <a:lnSpc>
                <a:spcPct val="110000"/>
              </a:lnSpc>
              <a:buNone/>
            </a:pPr>
            <a:r>
              <a:rPr lang="en-US" sz="1300" i="1" dirty="0">
                <a:solidFill>
                  <a:srgbClr val="5E5678"/>
                </a:solidFill>
                <a:latin typeface="Calibri" pitchFamily="34" charset="0"/>
                <a:ea typeface="Calibri" pitchFamily="34" charset="-122"/>
                <a:cs typeface="Calibri" pitchFamily="34" charset="-120"/>
              </a:rPr>
              <a:t>the chat disagree, this wins</a:t>
            </a:r>
            <a:endParaRPr lang="en-US" sz="1300" dirty="0"/>
          </a:p>
        </p:txBody>
      </p:sp>
      <p:sp>
        <p:nvSpPr>
          <p:cNvPr id="13" name="Text 11"/>
          <p:cNvSpPr txBox="1"/>
          <p:nvPr/>
        </p:nvSpPr>
        <p:spPr>
          <a:xfrm>
            <a:off x="640080" y="6144768"/>
            <a:ext cx="10881360" cy="365760"/>
          </a:xfrm>
          <a:prstGeom prst="rect">
            <a:avLst/>
          </a:prstGeom>
          <a:noFill/>
          <a:ln/>
        </p:spPr>
        <p:txBody>
          <a:bodyPr wrap="square" lIns="0" tIns="0" rIns="0" bIns="0" rtlCol="0" anchor="ctr"/>
          <a:lstStyle/>
          <a:p>
            <a:pPr marL="0" indent="0">
              <a:buNone/>
            </a:pPr>
            <a:r>
              <a:rPr lang="en-US" sz="1300" i="1" dirty="0">
                <a:solidFill>
                  <a:srgbClr val="8A6C1E"/>
                </a:solidFill>
                <a:latin typeface="Calibri" pitchFamily="34" charset="0"/>
                <a:ea typeface="Calibri" pitchFamily="34" charset="-122"/>
                <a:cs typeface="Calibri" pitchFamily="34" charset="-120"/>
              </a:rPr>
              <a:t>All of this lives in plain text files. Changing how the reader behaves means editing a file, not shipping new code.</a:t>
            </a:r>
            <a:endParaRPr lang="en-US" sz="1300" dirty="0"/>
          </a:p>
        </p:txBody>
      </p:sp>
      <p:sp>
        <p:nvSpPr>
          <p:cNvPr id="14" name="Text 12"/>
          <p:cNvSpPr txBox="1"/>
          <p:nvPr/>
        </p:nvSpPr>
        <p:spPr>
          <a:xfrm>
            <a:off x="9262872" y="6473952"/>
            <a:ext cx="2377440" cy="274320"/>
          </a:xfrm>
          <a:prstGeom prst="rect">
            <a:avLst/>
          </a:prstGeom>
          <a:noFill/>
          <a:ln/>
        </p:spPr>
        <p:txBody>
          <a:bodyPr wrap="square" lIns="0" tIns="0" rIns="0" bIns="0" rtlCol="0" anchor="ctr"/>
          <a:lstStyle/>
          <a:p>
            <a:pPr marL="0" indent="0" algn="r">
              <a:buNone/>
            </a:pPr>
            <a:r>
              <a:rPr lang="en-US" sz="1000" dirty="0">
                <a:solidFill>
                  <a:srgbClr val="5E5678"/>
                </a:solidFill>
                <a:latin typeface="Calibri" pitchFamily="34" charset="0"/>
                <a:ea typeface="Calibri" pitchFamily="34" charset="-122"/>
                <a:cs typeface="Calibri" pitchFamily="34" charset="-120"/>
              </a:rPr>
              <a:t>AI Tarot Projection  ·  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11480"/>
            <a:ext cx="8229600" cy="320040"/>
          </a:xfrm>
          <a:prstGeom prst="rect">
            <a:avLst/>
          </a:prstGeom>
          <a:noFill/>
          <a:ln/>
        </p:spPr>
        <p:txBody>
          <a:bodyPr wrap="square" lIns="0" tIns="0" rIns="0" bIns="0" rtlCol="0" anchor="ctr"/>
          <a:lstStyle/>
          <a:p>
            <a:pPr marL="0" indent="0" algn="l">
              <a:buNone/>
            </a:pPr>
            <a:r>
              <a:rPr lang="en-US" sz="1300" b="1" kern="0" spc="300" dirty="0">
                <a:solidFill>
                  <a:srgbClr val="8A6C1E"/>
                </a:solidFill>
                <a:latin typeface="Calibri" pitchFamily="34" charset="0"/>
                <a:ea typeface="Calibri" pitchFamily="34" charset="-122"/>
                <a:cs typeface="Calibri" pitchFamily="34" charset="-120"/>
              </a:rPr>
              <a:t>DESIGN · SAFETY AND PRIVACY</a:t>
            </a:r>
            <a:endParaRPr lang="en-US" sz="1300" dirty="0"/>
          </a:p>
        </p:txBody>
      </p:sp>
      <p:sp>
        <p:nvSpPr>
          <p:cNvPr id="3" name="Text 1"/>
          <p:cNvSpPr txBox="1"/>
          <p:nvPr/>
        </p:nvSpPr>
        <p:spPr>
          <a:xfrm>
            <a:off x="640080" y="731520"/>
            <a:ext cx="10881360" cy="868680"/>
          </a:xfrm>
          <a:prstGeom prst="rect">
            <a:avLst/>
          </a:prstGeom>
          <a:noFill/>
          <a:ln/>
        </p:spPr>
        <p:txBody>
          <a:bodyPr wrap="square" lIns="0" tIns="0" rIns="0" bIns="0" rtlCol="0" anchor="ctr"/>
          <a:lstStyle/>
          <a:p>
            <a:pPr marL="0" indent="0" algn="l">
              <a:buNone/>
            </a:pPr>
            <a:r>
              <a:rPr lang="en-US" sz="3600" b="1" dirty="0">
                <a:solidFill>
                  <a:srgbClr val="2B2545"/>
                </a:solidFill>
                <a:latin typeface="Cambria" pitchFamily="34" charset="0"/>
                <a:ea typeface="Cambria" pitchFamily="34" charset="-122"/>
                <a:cs typeface="Cambria" pitchFamily="34" charset="-120"/>
              </a:rPr>
              <a:t>Safe by design, private by construction</a:t>
            </a:r>
            <a:endParaRPr lang="en-US" sz="3600" dirty="0"/>
          </a:p>
        </p:txBody>
      </p:sp>
      <p:sp>
        <p:nvSpPr>
          <p:cNvPr id="4" name="Text 2"/>
          <p:cNvSpPr txBox="1"/>
          <p:nvPr/>
        </p:nvSpPr>
        <p:spPr>
          <a:xfrm>
            <a:off x="640080" y="1783080"/>
            <a:ext cx="5303520" cy="411480"/>
          </a:xfrm>
          <a:prstGeom prst="rect">
            <a:avLst/>
          </a:prstGeom>
          <a:noFill/>
          <a:ln/>
        </p:spPr>
        <p:txBody>
          <a:bodyPr wrap="square" lIns="0" tIns="0" rIns="0" bIns="0" rtlCol="0" anchor="ctr"/>
          <a:lstStyle/>
          <a:p>
            <a:pPr marL="0" indent="0">
              <a:buNone/>
            </a:pPr>
            <a:r>
              <a:rPr lang="en-US" sz="1800" b="1" dirty="0">
                <a:solidFill>
                  <a:srgbClr val="8A6C1E"/>
                </a:solidFill>
                <a:latin typeface="Calibri" pitchFamily="34" charset="0"/>
                <a:ea typeface="Calibri" pitchFamily="34" charset="-122"/>
                <a:cs typeface="Calibri" pitchFamily="34" charset="-120"/>
              </a:rPr>
              <a:t>Guardrails that scale with what's at stake</a:t>
            </a:r>
            <a:endParaRPr lang="en-US" sz="1800" dirty="0"/>
          </a:p>
        </p:txBody>
      </p:sp>
      <p:sp>
        <p:nvSpPr>
          <p:cNvPr id="5" name="Shape 3"/>
          <p:cNvSpPr/>
          <p:nvPr/>
        </p:nvSpPr>
        <p:spPr>
          <a:xfrm>
            <a:off x="640080" y="2350008"/>
            <a:ext cx="512064" cy="512064"/>
          </a:xfrm>
          <a:prstGeom prst="ellipse">
            <a:avLst/>
          </a:prstGeom>
          <a:solidFill>
            <a:srgbClr val="231C40"/>
          </a:solidFill>
          <a:ln/>
        </p:spPr>
        <p:txBody>
          <a:bodyPr/>
          <a:lstStyle/>
          <a:p>
            <a:endParaRPr lang="en-US"/>
          </a:p>
        </p:txBody>
      </p:sp>
      <p:pic>
        <p:nvPicPr>
          <p:cNvPr id="6" name="Image 0" descr="/home/claude/tarot-deck/icons/check-gold.png"/>
          <p:cNvPicPr>
            <a:picLocks noChangeAspect="1"/>
          </p:cNvPicPr>
          <p:nvPr/>
        </p:nvPicPr>
        <p:blipFill>
          <a:blip r:embed="rId3"/>
          <a:stretch>
            <a:fillRect/>
          </a:stretch>
        </p:blipFill>
        <p:spPr>
          <a:xfrm>
            <a:off x="768096" y="2478024"/>
            <a:ext cx="256032" cy="256032"/>
          </a:xfrm>
          <a:prstGeom prst="rect">
            <a:avLst/>
          </a:prstGeom>
        </p:spPr>
      </p:pic>
      <p:sp>
        <p:nvSpPr>
          <p:cNvPr id="7" name="Text 4"/>
          <p:cNvSpPr txBox="1"/>
          <p:nvPr/>
        </p:nvSpPr>
        <p:spPr>
          <a:xfrm>
            <a:off x="1371600" y="2331720"/>
            <a:ext cx="4572000" cy="914400"/>
          </a:xfrm>
          <a:prstGeom prst="rect">
            <a:avLst/>
          </a:prstGeom>
          <a:noFill/>
          <a:ln/>
        </p:spPr>
        <p:txBody>
          <a:bodyPr wrap="square" lIns="0" tIns="0" rIns="0" bIns="0" rtlCol="0" anchor="t"/>
          <a:lstStyle/>
          <a:p>
            <a:pPr marL="0" indent="0" algn="l">
              <a:lnSpc>
                <a:spcPct val="110000"/>
              </a:lnSpc>
              <a:buNone/>
            </a:pPr>
            <a:r>
              <a:rPr lang="en-US" sz="1700" b="1" dirty="0">
                <a:solidFill>
                  <a:srgbClr val="2B2545"/>
                </a:solidFill>
                <a:latin typeface="Calibri" pitchFamily="34" charset="0"/>
                <a:ea typeface="Calibri" pitchFamily="34" charset="-122"/>
                <a:cs typeface="Calibri" pitchFamily="34" charset="-120"/>
              </a:rPr>
              <a:t>Everyday topics</a:t>
            </a:r>
            <a:endParaRPr lang="en-US" sz="1700" dirty="0"/>
          </a:p>
          <a:p>
            <a:pPr marL="0" indent="0" algn="l">
              <a:lnSpc>
                <a:spcPct val="110000"/>
              </a:lnSpc>
              <a:buNone/>
            </a:pPr>
            <a:r>
              <a:rPr lang="en-US" sz="1400" dirty="0">
                <a:solidFill>
                  <a:srgbClr val="5E5678"/>
                </a:solidFill>
                <a:latin typeface="Calibri" pitchFamily="34" charset="0"/>
                <a:ea typeface="Calibri" pitchFamily="34" charset="-122"/>
                <a:cs typeface="Calibri" pitchFamily="34" charset="-120"/>
              </a:rPr>
              <a:t>A normal, reflective reading. No predictions, ever.</a:t>
            </a:r>
            <a:endParaRPr lang="en-US" sz="1700" dirty="0"/>
          </a:p>
        </p:txBody>
      </p:sp>
      <p:sp>
        <p:nvSpPr>
          <p:cNvPr id="8" name="Shape 5"/>
          <p:cNvSpPr/>
          <p:nvPr/>
        </p:nvSpPr>
        <p:spPr>
          <a:xfrm>
            <a:off x="640080" y="3383280"/>
            <a:ext cx="512064" cy="512064"/>
          </a:xfrm>
          <a:prstGeom prst="ellipse">
            <a:avLst/>
          </a:prstGeom>
          <a:solidFill>
            <a:srgbClr val="231C40"/>
          </a:solidFill>
          <a:ln/>
        </p:spPr>
        <p:txBody>
          <a:bodyPr/>
          <a:lstStyle/>
          <a:p>
            <a:endParaRPr lang="en-US"/>
          </a:p>
        </p:txBody>
      </p:sp>
      <p:pic>
        <p:nvPicPr>
          <p:cNvPr id="9" name="Image 1" descr="/home/claude/tarot-deck/icons/alert-gold.png"/>
          <p:cNvPicPr>
            <a:picLocks noChangeAspect="1"/>
          </p:cNvPicPr>
          <p:nvPr/>
        </p:nvPicPr>
        <p:blipFill>
          <a:blip r:embed="rId4"/>
          <a:stretch>
            <a:fillRect/>
          </a:stretch>
        </p:blipFill>
        <p:spPr>
          <a:xfrm>
            <a:off x="768096" y="3511296"/>
            <a:ext cx="256032" cy="256032"/>
          </a:xfrm>
          <a:prstGeom prst="rect">
            <a:avLst/>
          </a:prstGeom>
        </p:spPr>
      </p:pic>
      <p:sp>
        <p:nvSpPr>
          <p:cNvPr id="10" name="Text 6"/>
          <p:cNvSpPr txBox="1"/>
          <p:nvPr/>
        </p:nvSpPr>
        <p:spPr>
          <a:xfrm>
            <a:off x="1371600" y="3364992"/>
            <a:ext cx="4572000" cy="914400"/>
          </a:xfrm>
          <a:prstGeom prst="rect">
            <a:avLst/>
          </a:prstGeom>
          <a:noFill/>
          <a:ln/>
        </p:spPr>
        <p:txBody>
          <a:bodyPr wrap="square" lIns="0" tIns="0" rIns="0" bIns="0" rtlCol="0" anchor="t"/>
          <a:lstStyle/>
          <a:p>
            <a:pPr marL="0" indent="0" algn="l">
              <a:lnSpc>
                <a:spcPct val="110000"/>
              </a:lnSpc>
              <a:buNone/>
            </a:pPr>
            <a:r>
              <a:rPr lang="en-US" sz="1700" b="1" dirty="0">
                <a:solidFill>
                  <a:srgbClr val="2B2545"/>
                </a:solidFill>
                <a:latin typeface="Calibri" pitchFamily="34" charset="0"/>
                <a:ea typeface="Calibri" pitchFamily="34" charset="-122"/>
                <a:cs typeface="Calibri" pitchFamily="34" charset="-120"/>
              </a:rPr>
              <a:t>Serious topics</a:t>
            </a:r>
            <a:endParaRPr lang="en-US" sz="1700" dirty="0"/>
          </a:p>
          <a:p>
            <a:pPr marL="0" indent="0" algn="l">
              <a:lnSpc>
                <a:spcPct val="110000"/>
              </a:lnSpc>
              <a:buNone/>
            </a:pPr>
            <a:r>
              <a:rPr lang="en-US" sz="1400" dirty="0">
                <a:solidFill>
                  <a:srgbClr val="5E5678"/>
                </a:solidFill>
                <a:latin typeface="Calibri" pitchFamily="34" charset="0"/>
                <a:ea typeface="Calibri" pitchFamily="34" charset="-122"/>
                <a:cs typeface="Calibri" pitchFamily="34" charset="-120"/>
              </a:rPr>
              <a:t>Medical, legal, money: it says this needs a professional.</a:t>
            </a:r>
            <a:endParaRPr lang="en-US" sz="1700" dirty="0"/>
          </a:p>
        </p:txBody>
      </p:sp>
      <p:sp>
        <p:nvSpPr>
          <p:cNvPr id="11" name="Shape 7"/>
          <p:cNvSpPr/>
          <p:nvPr/>
        </p:nvSpPr>
        <p:spPr>
          <a:xfrm>
            <a:off x="640080" y="4416552"/>
            <a:ext cx="512064" cy="512064"/>
          </a:xfrm>
          <a:prstGeom prst="ellipse">
            <a:avLst/>
          </a:prstGeom>
          <a:solidFill>
            <a:srgbClr val="231C40"/>
          </a:solidFill>
          <a:ln/>
        </p:spPr>
        <p:txBody>
          <a:bodyPr/>
          <a:lstStyle/>
          <a:p>
            <a:endParaRPr lang="en-US"/>
          </a:p>
        </p:txBody>
      </p:sp>
      <p:pic>
        <p:nvPicPr>
          <p:cNvPr id="12" name="Image 2" descr="/home/claude/tarot-deck/icons/shield-gold.png"/>
          <p:cNvPicPr>
            <a:picLocks noChangeAspect="1"/>
          </p:cNvPicPr>
          <p:nvPr/>
        </p:nvPicPr>
        <p:blipFill>
          <a:blip r:embed="rId5"/>
          <a:stretch>
            <a:fillRect/>
          </a:stretch>
        </p:blipFill>
        <p:spPr>
          <a:xfrm>
            <a:off x="768096" y="4544568"/>
            <a:ext cx="256032" cy="256032"/>
          </a:xfrm>
          <a:prstGeom prst="rect">
            <a:avLst/>
          </a:prstGeom>
        </p:spPr>
      </p:pic>
      <p:sp>
        <p:nvSpPr>
          <p:cNvPr id="13" name="Text 8"/>
          <p:cNvSpPr txBox="1"/>
          <p:nvPr/>
        </p:nvSpPr>
        <p:spPr>
          <a:xfrm>
            <a:off x="1371600" y="4398264"/>
            <a:ext cx="4572000" cy="914400"/>
          </a:xfrm>
          <a:prstGeom prst="rect">
            <a:avLst/>
          </a:prstGeom>
          <a:noFill/>
          <a:ln/>
        </p:spPr>
        <p:txBody>
          <a:bodyPr wrap="square" lIns="0" tIns="0" rIns="0" bIns="0" rtlCol="0" anchor="t"/>
          <a:lstStyle/>
          <a:p>
            <a:pPr marL="0" indent="0" algn="l">
              <a:lnSpc>
                <a:spcPct val="110000"/>
              </a:lnSpc>
              <a:buNone/>
            </a:pPr>
            <a:r>
              <a:rPr lang="en-US" sz="1700" b="1" dirty="0">
                <a:solidFill>
                  <a:srgbClr val="2B2545"/>
                </a:solidFill>
                <a:latin typeface="Calibri" pitchFamily="34" charset="0"/>
                <a:ea typeface="Calibri" pitchFamily="34" charset="-122"/>
                <a:cs typeface="Calibri" pitchFamily="34" charset="-120"/>
              </a:rPr>
              <a:t>Crisis: the tarot voice stops</a:t>
            </a:r>
            <a:endParaRPr lang="en-US" sz="1700" dirty="0"/>
          </a:p>
          <a:p>
            <a:pPr marL="0" indent="0" algn="l">
              <a:lnSpc>
                <a:spcPct val="110000"/>
              </a:lnSpc>
              <a:buNone/>
            </a:pPr>
            <a:r>
              <a:rPr lang="en-US" sz="1400" dirty="0">
                <a:solidFill>
                  <a:srgbClr val="5E5678"/>
                </a:solidFill>
                <a:latin typeface="Calibri" pitchFamily="34" charset="0"/>
                <a:ea typeface="Calibri" pitchFamily="34" charset="-122"/>
                <a:cs typeface="Calibri" pitchFamily="34" charset="-120"/>
              </a:rPr>
              <a:t>It answers plainly and points to real help, from turn one.</a:t>
            </a:r>
            <a:endParaRPr lang="en-US" sz="1700" dirty="0"/>
          </a:p>
        </p:txBody>
      </p:sp>
      <p:sp>
        <p:nvSpPr>
          <p:cNvPr id="14" name="Shape 9"/>
          <p:cNvSpPr/>
          <p:nvPr/>
        </p:nvSpPr>
        <p:spPr>
          <a:xfrm>
            <a:off x="640080" y="5449824"/>
            <a:ext cx="512064" cy="512064"/>
          </a:xfrm>
          <a:prstGeom prst="ellipse">
            <a:avLst/>
          </a:prstGeom>
          <a:solidFill>
            <a:srgbClr val="231C40"/>
          </a:solidFill>
          <a:ln/>
        </p:spPr>
        <p:txBody>
          <a:bodyPr/>
          <a:lstStyle/>
          <a:p>
            <a:endParaRPr lang="en-US"/>
          </a:p>
        </p:txBody>
      </p:sp>
      <p:pic>
        <p:nvPicPr>
          <p:cNvPr id="15" name="Image 3" descr="/home/claude/tarot-deck/icons/message-gold.png"/>
          <p:cNvPicPr>
            <a:picLocks noChangeAspect="1"/>
          </p:cNvPicPr>
          <p:nvPr/>
        </p:nvPicPr>
        <p:blipFill>
          <a:blip r:embed="rId6"/>
          <a:stretch>
            <a:fillRect/>
          </a:stretch>
        </p:blipFill>
        <p:spPr>
          <a:xfrm>
            <a:off x="768096" y="5577840"/>
            <a:ext cx="256032" cy="256032"/>
          </a:xfrm>
          <a:prstGeom prst="rect">
            <a:avLst/>
          </a:prstGeom>
        </p:spPr>
      </p:pic>
      <p:sp>
        <p:nvSpPr>
          <p:cNvPr id="16" name="Text 10"/>
          <p:cNvSpPr txBox="1"/>
          <p:nvPr/>
        </p:nvSpPr>
        <p:spPr>
          <a:xfrm>
            <a:off x="1371600" y="5431536"/>
            <a:ext cx="4572000" cy="914400"/>
          </a:xfrm>
          <a:prstGeom prst="rect">
            <a:avLst/>
          </a:prstGeom>
          <a:noFill/>
          <a:ln/>
        </p:spPr>
        <p:txBody>
          <a:bodyPr wrap="square" lIns="0" tIns="0" rIns="0" bIns="0" rtlCol="0" anchor="t"/>
          <a:lstStyle/>
          <a:p>
            <a:pPr marL="0" indent="0" algn="l">
              <a:lnSpc>
                <a:spcPct val="110000"/>
              </a:lnSpc>
              <a:buNone/>
            </a:pPr>
            <a:r>
              <a:rPr lang="en-US" sz="1700" b="1" dirty="0">
                <a:solidFill>
                  <a:srgbClr val="2B2545"/>
                </a:solidFill>
                <a:latin typeface="Calibri" pitchFamily="34" charset="0"/>
                <a:ea typeface="Calibri" pitchFamily="34" charset="-122"/>
                <a:cs typeface="Calibri" pitchFamily="34" charset="-120"/>
              </a:rPr>
              <a:t>“That's not it” always wins</a:t>
            </a:r>
            <a:endParaRPr lang="en-US" sz="1700" dirty="0"/>
          </a:p>
          <a:p>
            <a:pPr marL="0" indent="0" algn="l">
              <a:lnSpc>
                <a:spcPct val="110000"/>
              </a:lnSpc>
              <a:buNone/>
            </a:pPr>
            <a:r>
              <a:rPr lang="en-US" sz="1400" dirty="0">
                <a:solidFill>
                  <a:srgbClr val="5E5678"/>
                </a:solidFill>
                <a:latin typeface="Calibri" pitchFamily="34" charset="0"/>
                <a:ea typeface="Calibri" pitchFamily="34" charset="-122"/>
                <a:cs typeface="Calibri" pitchFamily="34" charset="-120"/>
              </a:rPr>
              <a:t>Push back and it updates. Disagreement is never “resistance.”</a:t>
            </a:r>
            <a:endParaRPr lang="en-US" sz="1700" dirty="0"/>
          </a:p>
        </p:txBody>
      </p:sp>
      <p:sp>
        <p:nvSpPr>
          <p:cNvPr id="17" name="Text 11"/>
          <p:cNvSpPr txBox="1"/>
          <p:nvPr/>
        </p:nvSpPr>
        <p:spPr>
          <a:xfrm>
            <a:off x="6400800" y="1783080"/>
            <a:ext cx="5120640" cy="411480"/>
          </a:xfrm>
          <a:prstGeom prst="rect">
            <a:avLst/>
          </a:prstGeom>
          <a:noFill/>
          <a:ln/>
        </p:spPr>
        <p:txBody>
          <a:bodyPr wrap="square" lIns="0" tIns="0" rIns="0" bIns="0" rtlCol="0" anchor="ctr"/>
          <a:lstStyle/>
          <a:p>
            <a:pPr marL="0" indent="0">
              <a:buNone/>
            </a:pPr>
            <a:r>
              <a:rPr lang="en-US" sz="1800" b="1" dirty="0">
                <a:solidFill>
                  <a:srgbClr val="8A6C1E"/>
                </a:solidFill>
                <a:latin typeface="Calibri" pitchFamily="34" charset="0"/>
                <a:ea typeface="Calibri" pitchFamily="34" charset="-122"/>
                <a:cs typeface="Calibri" pitchFamily="34" charset="-120"/>
              </a:rPr>
              <a:t>Your key, your choice of path</a:t>
            </a:r>
            <a:endParaRPr lang="en-US" sz="1800" dirty="0"/>
          </a:p>
        </p:txBody>
      </p:sp>
      <p:sp>
        <p:nvSpPr>
          <p:cNvPr id="18" name="Shape 12"/>
          <p:cNvSpPr/>
          <p:nvPr/>
        </p:nvSpPr>
        <p:spPr>
          <a:xfrm>
            <a:off x="6400800" y="2350008"/>
            <a:ext cx="512064" cy="512064"/>
          </a:xfrm>
          <a:prstGeom prst="ellipse">
            <a:avLst/>
          </a:prstGeom>
          <a:solidFill>
            <a:srgbClr val="231C40"/>
          </a:solidFill>
          <a:ln/>
        </p:spPr>
        <p:txBody>
          <a:bodyPr/>
          <a:lstStyle/>
          <a:p>
            <a:endParaRPr lang="en-US"/>
          </a:p>
        </p:txBody>
      </p:sp>
      <p:pic>
        <p:nvPicPr>
          <p:cNvPr id="19" name="Image 4" descr="/home/claude/tarot-deck/icons/zap-gold.png"/>
          <p:cNvPicPr>
            <a:picLocks noChangeAspect="1"/>
          </p:cNvPicPr>
          <p:nvPr/>
        </p:nvPicPr>
        <p:blipFill>
          <a:blip r:embed="rId7"/>
          <a:stretch>
            <a:fillRect/>
          </a:stretch>
        </p:blipFill>
        <p:spPr>
          <a:xfrm>
            <a:off x="6528816" y="2478024"/>
            <a:ext cx="256032" cy="256032"/>
          </a:xfrm>
          <a:prstGeom prst="rect">
            <a:avLst/>
          </a:prstGeom>
        </p:spPr>
      </p:pic>
      <p:sp>
        <p:nvSpPr>
          <p:cNvPr id="20" name="Text 13"/>
          <p:cNvSpPr txBox="1"/>
          <p:nvPr/>
        </p:nvSpPr>
        <p:spPr>
          <a:xfrm>
            <a:off x="7132320" y="2331720"/>
            <a:ext cx="4389120" cy="914400"/>
          </a:xfrm>
          <a:prstGeom prst="rect">
            <a:avLst/>
          </a:prstGeom>
          <a:noFill/>
          <a:ln/>
        </p:spPr>
        <p:txBody>
          <a:bodyPr wrap="square" lIns="0" tIns="0" rIns="0" bIns="0" rtlCol="0" anchor="t"/>
          <a:lstStyle/>
          <a:p>
            <a:pPr marL="0" indent="0" algn="l">
              <a:lnSpc>
                <a:spcPct val="110000"/>
              </a:lnSpc>
              <a:buNone/>
            </a:pPr>
            <a:r>
              <a:rPr lang="en-US" sz="1700" b="1" dirty="0">
                <a:solidFill>
                  <a:srgbClr val="2B2545"/>
                </a:solidFill>
                <a:latin typeface="Calibri" pitchFamily="34" charset="0"/>
                <a:ea typeface="Calibri" pitchFamily="34" charset="-122"/>
                <a:cs typeface="Calibri" pitchFamily="34" charset="-120"/>
              </a:rPr>
              <a:t>Direct</a:t>
            </a:r>
            <a:endParaRPr lang="en-US" sz="1700" dirty="0"/>
          </a:p>
          <a:p>
            <a:pPr marL="0" indent="0" algn="l">
              <a:lnSpc>
                <a:spcPct val="110000"/>
              </a:lnSpc>
              <a:buNone/>
            </a:pPr>
            <a:r>
              <a:rPr lang="en-US" sz="1400" dirty="0">
                <a:solidFill>
                  <a:srgbClr val="5E5678"/>
                </a:solidFill>
                <a:latin typeface="Calibri" pitchFamily="34" charset="0"/>
                <a:ea typeface="Calibri" pitchFamily="34" charset="-122"/>
                <a:cs typeface="Calibri" pitchFamily="34" charset="-120"/>
              </a:rPr>
              <a:t>Your browser talks straight to the AI provider.</a:t>
            </a:r>
            <a:endParaRPr lang="en-US" sz="1700" dirty="0"/>
          </a:p>
        </p:txBody>
      </p:sp>
      <p:sp>
        <p:nvSpPr>
          <p:cNvPr id="21" name="Shape 14"/>
          <p:cNvSpPr/>
          <p:nvPr/>
        </p:nvSpPr>
        <p:spPr>
          <a:xfrm>
            <a:off x="6400800" y="3383280"/>
            <a:ext cx="512064" cy="512064"/>
          </a:xfrm>
          <a:prstGeom prst="ellipse">
            <a:avLst/>
          </a:prstGeom>
          <a:solidFill>
            <a:srgbClr val="231C40"/>
          </a:solidFill>
          <a:ln/>
        </p:spPr>
        <p:txBody>
          <a:bodyPr/>
          <a:lstStyle/>
          <a:p>
            <a:endParaRPr lang="en-US"/>
          </a:p>
        </p:txBody>
      </p:sp>
      <p:pic>
        <p:nvPicPr>
          <p:cNvPr id="22" name="Image 5" descr="/home/claude/tarot-deck/icons/git-gold.png"/>
          <p:cNvPicPr>
            <a:picLocks noChangeAspect="1"/>
          </p:cNvPicPr>
          <p:nvPr/>
        </p:nvPicPr>
        <p:blipFill>
          <a:blip r:embed="rId8"/>
          <a:stretch>
            <a:fillRect/>
          </a:stretch>
        </p:blipFill>
        <p:spPr>
          <a:xfrm>
            <a:off x="6528816" y="3511296"/>
            <a:ext cx="256032" cy="256032"/>
          </a:xfrm>
          <a:prstGeom prst="rect">
            <a:avLst/>
          </a:prstGeom>
        </p:spPr>
      </p:pic>
      <p:sp>
        <p:nvSpPr>
          <p:cNvPr id="23" name="Text 15"/>
          <p:cNvSpPr txBox="1"/>
          <p:nvPr/>
        </p:nvSpPr>
        <p:spPr>
          <a:xfrm>
            <a:off x="7132320" y="3364992"/>
            <a:ext cx="4389120" cy="914400"/>
          </a:xfrm>
          <a:prstGeom prst="rect">
            <a:avLst/>
          </a:prstGeom>
          <a:noFill/>
          <a:ln/>
        </p:spPr>
        <p:txBody>
          <a:bodyPr wrap="square" lIns="0" tIns="0" rIns="0" bIns="0" rtlCol="0" anchor="t"/>
          <a:lstStyle/>
          <a:p>
            <a:pPr marL="0" indent="0" algn="l">
              <a:lnSpc>
                <a:spcPct val="110000"/>
              </a:lnSpc>
              <a:buNone/>
            </a:pPr>
            <a:r>
              <a:rPr lang="en-US" sz="1700" b="1" dirty="0">
                <a:solidFill>
                  <a:srgbClr val="2B2545"/>
                </a:solidFill>
                <a:latin typeface="Calibri" pitchFamily="34" charset="0"/>
                <a:ea typeface="Calibri" pitchFamily="34" charset="-122"/>
                <a:cs typeface="Calibri" pitchFamily="34" charset="-120"/>
              </a:rPr>
              <a:t>Your own relay</a:t>
            </a:r>
            <a:endParaRPr lang="en-US" sz="1700" dirty="0"/>
          </a:p>
          <a:p>
            <a:pPr marL="0" indent="0" algn="l">
              <a:lnSpc>
                <a:spcPct val="110000"/>
              </a:lnSpc>
              <a:buNone/>
            </a:pPr>
            <a:r>
              <a:rPr lang="en-US" sz="1400" dirty="0">
                <a:solidFill>
                  <a:srgbClr val="5E5678"/>
                </a:solidFill>
                <a:latin typeface="Calibri" pitchFamily="34" charset="0"/>
                <a:ea typeface="Calibri" pitchFamily="34" charset="-122"/>
                <a:cs typeface="Calibri" pitchFamily="34" charset="-120"/>
              </a:rPr>
              <a:t>~300 lines of Python you can read in one sitting.</a:t>
            </a:r>
            <a:endParaRPr lang="en-US" sz="1700" dirty="0"/>
          </a:p>
        </p:txBody>
      </p:sp>
      <p:sp>
        <p:nvSpPr>
          <p:cNvPr id="24" name="Shape 16"/>
          <p:cNvSpPr/>
          <p:nvPr/>
        </p:nvSpPr>
        <p:spPr>
          <a:xfrm>
            <a:off x="6400800" y="4416552"/>
            <a:ext cx="512064" cy="512064"/>
          </a:xfrm>
          <a:prstGeom prst="ellipse">
            <a:avLst/>
          </a:prstGeom>
          <a:solidFill>
            <a:srgbClr val="231C40"/>
          </a:solidFill>
          <a:ln/>
        </p:spPr>
        <p:txBody>
          <a:bodyPr/>
          <a:lstStyle/>
          <a:p>
            <a:endParaRPr lang="en-US"/>
          </a:p>
        </p:txBody>
      </p:sp>
      <p:pic>
        <p:nvPicPr>
          <p:cNvPr id="25" name="Image 6" descr="/home/claude/tarot-deck/icons/lock-gold.png"/>
          <p:cNvPicPr>
            <a:picLocks noChangeAspect="1"/>
          </p:cNvPicPr>
          <p:nvPr/>
        </p:nvPicPr>
        <p:blipFill>
          <a:blip r:embed="rId9"/>
          <a:stretch>
            <a:fillRect/>
          </a:stretch>
        </p:blipFill>
        <p:spPr>
          <a:xfrm>
            <a:off x="6528816" y="4544568"/>
            <a:ext cx="256032" cy="256032"/>
          </a:xfrm>
          <a:prstGeom prst="rect">
            <a:avLst/>
          </a:prstGeom>
        </p:spPr>
      </p:pic>
      <p:sp>
        <p:nvSpPr>
          <p:cNvPr id="26" name="Text 17"/>
          <p:cNvSpPr txBox="1"/>
          <p:nvPr/>
        </p:nvSpPr>
        <p:spPr>
          <a:xfrm>
            <a:off x="7132320" y="4398264"/>
            <a:ext cx="4389120" cy="914400"/>
          </a:xfrm>
          <a:prstGeom prst="rect">
            <a:avLst/>
          </a:prstGeom>
          <a:noFill/>
          <a:ln/>
        </p:spPr>
        <p:txBody>
          <a:bodyPr wrap="square" lIns="0" tIns="0" rIns="0" bIns="0" rtlCol="0" anchor="t"/>
          <a:lstStyle/>
          <a:p>
            <a:pPr marL="0" indent="0" algn="l">
              <a:lnSpc>
                <a:spcPct val="110000"/>
              </a:lnSpc>
              <a:buNone/>
            </a:pPr>
            <a:r>
              <a:rPr lang="en-US" sz="1700" b="1" dirty="0">
                <a:solidFill>
                  <a:srgbClr val="2B2545"/>
                </a:solidFill>
                <a:latin typeface="Calibri" pitchFamily="34" charset="0"/>
                <a:ea typeface="Calibri" pitchFamily="34" charset="-122"/>
                <a:cs typeface="Calibri" pitchFamily="34" charset="-120"/>
              </a:rPr>
              <a:t>Hosted</a:t>
            </a:r>
            <a:endParaRPr lang="en-US" sz="1700" dirty="0"/>
          </a:p>
          <a:p>
            <a:pPr marL="0" indent="0" algn="l">
              <a:lnSpc>
                <a:spcPct val="110000"/>
              </a:lnSpc>
              <a:buNone/>
            </a:pPr>
            <a:r>
              <a:rPr lang="en-US" sz="1400" dirty="0">
                <a:solidFill>
                  <a:srgbClr val="5E5678"/>
                </a:solidFill>
                <a:latin typeface="Calibri" pitchFamily="34" charset="0"/>
                <a:ea typeface="Calibri" pitchFamily="34" charset="-122"/>
                <a:cs typeface="Calibri" pitchFamily="34" charset="-120"/>
              </a:rPr>
              <a:t>Under 140 lines, with no code that could log you.</a:t>
            </a:r>
            <a:endParaRPr lang="en-US" sz="1700" dirty="0"/>
          </a:p>
        </p:txBody>
      </p:sp>
      <p:sp>
        <p:nvSpPr>
          <p:cNvPr id="27" name="Shape 18"/>
          <p:cNvSpPr/>
          <p:nvPr/>
        </p:nvSpPr>
        <p:spPr>
          <a:xfrm>
            <a:off x="6400800" y="5449824"/>
            <a:ext cx="512064" cy="512064"/>
          </a:xfrm>
          <a:prstGeom prst="ellipse">
            <a:avLst/>
          </a:prstGeom>
          <a:solidFill>
            <a:srgbClr val="231C40"/>
          </a:solidFill>
          <a:ln/>
        </p:spPr>
        <p:txBody>
          <a:bodyPr/>
          <a:lstStyle/>
          <a:p>
            <a:endParaRPr lang="en-US"/>
          </a:p>
        </p:txBody>
      </p:sp>
      <p:pic>
        <p:nvPicPr>
          <p:cNvPr id="28" name="Image 7" descr="/home/claude/tarot-deck/icons/key-gold.png"/>
          <p:cNvPicPr>
            <a:picLocks noChangeAspect="1"/>
          </p:cNvPicPr>
          <p:nvPr/>
        </p:nvPicPr>
        <p:blipFill>
          <a:blip r:embed="rId10"/>
          <a:stretch>
            <a:fillRect/>
          </a:stretch>
        </p:blipFill>
        <p:spPr>
          <a:xfrm>
            <a:off x="6528816" y="5577840"/>
            <a:ext cx="256032" cy="256032"/>
          </a:xfrm>
          <a:prstGeom prst="rect">
            <a:avLst/>
          </a:prstGeom>
        </p:spPr>
      </p:pic>
      <p:sp>
        <p:nvSpPr>
          <p:cNvPr id="29" name="Text 19"/>
          <p:cNvSpPr txBox="1"/>
          <p:nvPr/>
        </p:nvSpPr>
        <p:spPr>
          <a:xfrm>
            <a:off x="7132320" y="5431536"/>
            <a:ext cx="4389120" cy="914400"/>
          </a:xfrm>
          <a:prstGeom prst="rect">
            <a:avLst/>
          </a:prstGeom>
          <a:noFill/>
          <a:ln/>
        </p:spPr>
        <p:txBody>
          <a:bodyPr wrap="square" lIns="0" tIns="0" rIns="0" bIns="0" rtlCol="0" anchor="t"/>
          <a:lstStyle/>
          <a:p>
            <a:pPr marL="0" indent="0" algn="l">
              <a:lnSpc>
                <a:spcPct val="110000"/>
              </a:lnSpc>
              <a:buNone/>
            </a:pPr>
            <a:r>
              <a:rPr lang="en-US" sz="1700" b="1" dirty="0">
                <a:solidFill>
                  <a:srgbClr val="2B2545"/>
                </a:solidFill>
                <a:latin typeface="Calibri" pitchFamily="34" charset="0"/>
                <a:ea typeface="Calibri" pitchFamily="34" charset="-122"/>
                <a:cs typeface="Calibri" pitchFamily="34" charset="-120"/>
              </a:rPr>
              <a:t>Tested, not promised</a:t>
            </a:r>
            <a:endParaRPr lang="en-US" sz="1700" dirty="0"/>
          </a:p>
          <a:p>
            <a:pPr marL="0" indent="0" algn="l">
              <a:lnSpc>
                <a:spcPct val="110000"/>
              </a:lnSpc>
              <a:buNone/>
            </a:pPr>
            <a:r>
              <a:rPr lang="en-US" sz="1400" dirty="0">
                <a:solidFill>
                  <a:srgbClr val="5E5678"/>
                </a:solidFill>
                <a:latin typeface="Calibri" pitchFamily="34" charset="0"/>
                <a:ea typeface="Calibri" pitchFamily="34" charset="-122"/>
                <a:cs typeface="Calibri" pitchFamily="34" charset="-120"/>
              </a:rPr>
              <a:t>Tests plant a fake key; it must show up nowhere.</a:t>
            </a:r>
            <a:endParaRPr lang="en-US" sz="1700" dirty="0"/>
          </a:p>
        </p:txBody>
      </p:sp>
      <p:sp>
        <p:nvSpPr>
          <p:cNvPr id="30" name="Text 20"/>
          <p:cNvSpPr txBox="1"/>
          <p:nvPr/>
        </p:nvSpPr>
        <p:spPr>
          <a:xfrm>
            <a:off x="9262872" y="6473952"/>
            <a:ext cx="2377440" cy="274320"/>
          </a:xfrm>
          <a:prstGeom prst="rect">
            <a:avLst/>
          </a:prstGeom>
          <a:noFill/>
          <a:ln/>
        </p:spPr>
        <p:txBody>
          <a:bodyPr wrap="square" lIns="0" tIns="0" rIns="0" bIns="0" rtlCol="0" anchor="ctr"/>
          <a:lstStyle/>
          <a:p>
            <a:pPr marL="0" indent="0" algn="r">
              <a:buNone/>
            </a:pPr>
            <a:r>
              <a:rPr lang="en-US" sz="1000" dirty="0">
                <a:solidFill>
                  <a:srgbClr val="5E5678"/>
                </a:solidFill>
                <a:latin typeface="Calibri" pitchFamily="34" charset="0"/>
                <a:ea typeface="Calibri" pitchFamily="34" charset="-122"/>
                <a:cs typeface="Calibri" pitchFamily="34" charset="-120"/>
              </a:rPr>
              <a:t>AI Tarot Projection  ·  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11480"/>
            <a:ext cx="8229600" cy="320040"/>
          </a:xfrm>
          <a:prstGeom prst="rect">
            <a:avLst/>
          </a:prstGeom>
          <a:noFill/>
          <a:ln/>
        </p:spPr>
        <p:txBody>
          <a:bodyPr wrap="square" lIns="0" tIns="0" rIns="0" bIns="0" rtlCol="0" anchor="ctr"/>
          <a:lstStyle/>
          <a:p>
            <a:pPr marL="0" indent="0" algn="l">
              <a:buNone/>
            </a:pPr>
            <a:r>
              <a:rPr lang="en-US" sz="1300" b="1" kern="0" spc="300" dirty="0">
                <a:solidFill>
                  <a:srgbClr val="8A6C1E"/>
                </a:solidFill>
                <a:latin typeface="Calibri" pitchFamily="34" charset="0"/>
                <a:ea typeface="Calibri" pitchFamily="34" charset="-122"/>
                <a:cs typeface="Calibri" pitchFamily="34" charset="-120"/>
              </a:rPr>
              <a:t>POSITIONING</a:t>
            </a:r>
            <a:endParaRPr lang="en-US" sz="1300" dirty="0"/>
          </a:p>
        </p:txBody>
      </p:sp>
      <p:sp>
        <p:nvSpPr>
          <p:cNvPr id="3" name="Text 1"/>
          <p:cNvSpPr txBox="1"/>
          <p:nvPr/>
        </p:nvSpPr>
        <p:spPr>
          <a:xfrm>
            <a:off x="640080" y="731520"/>
            <a:ext cx="10881360" cy="868680"/>
          </a:xfrm>
          <a:prstGeom prst="rect">
            <a:avLst/>
          </a:prstGeom>
          <a:noFill/>
          <a:ln/>
        </p:spPr>
        <p:txBody>
          <a:bodyPr wrap="square" lIns="0" tIns="0" rIns="0" bIns="0" rtlCol="0" anchor="ctr"/>
          <a:lstStyle/>
          <a:p>
            <a:pPr marL="0" indent="0" algn="l">
              <a:buNone/>
            </a:pPr>
            <a:r>
              <a:rPr lang="en-US" sz="3600" b="1" dirty="0">
                <a:solidFill>
                  <a:srgbClr val="2B2545"/>
                </a:solidFill>
                <a:latin typeface="Cambria" pitchFamily="34" charset="0"/>
                <a:ea typeface="Cambria" pitchFamily="34" charset="-122"/>
                <a:cs typeface="Cambria" pitchFamily="34" charset="-120"/>
              </a:rPr>
              <a:t>What the competition doesn't have</a:t>
            </a:r>
            <a:endParaRPr lang="en-US" sz="3600" dirty="0"/>
          </a:p>
        </p:txBody>
      </p:sp>
      <p:sp>
        <p:nvSpPr>
          <p:cNvPr id="4" name="Text 2"/>
          <p:cNvSpPr txBox="1"/>
          <p:nvPr/>
        </p:nvSpPr>
        <p:spPr>
          <a:xfrm>
            <a:off x="640080" y="1664208"/>
            <a:ext cx="10515600" cy="365760"/>
          </a:xfrm>
          <a:prstGeom prst="rect">
            <a:avLst/>
          </a:prstGeom>
          <a:noFill/>
          <a:ln/>
        </p:spPr>
        <p:txBody>
          <a:bodyPr wrap="square" lIns="0" tIns="0" rIns="0" bIns="0" rtlCol="0" anchor="ctr"/>
          <a:lstStyle/>
          <a:p>
            <a:pPr marL="0" indent="0">
              <a:buNone/>
            </a:pPr>
            <a:r>
              <a:rPr lang="en-US" sz="1400" i="1" dirty="0">
                <a:solidFill>
                  <a:srgbClr val="5E5678"/>
                </a:solidFill>
                <a:latin typeface="Calibri" pitchFamily="34" charset="0"/>
                <a:ea typeface="Calibri" pitchFamily="34" charset="-122"/>
                <a:cs typeface="Calibri" pitchFamily="34" charset="-120"/>
              </a:rPr>
              <a:t>vs. Aluma, TAROGO, Inner Arcana. Validated against their own user reviews.</a:t>
            </a:r>
            <a:endParaRPr lang="en-US" sz="1400" dirty="0"/>
          </a:p>
        </p:txBody>
      </p:sp>
      <p:sp>
        <p:nvSpPr>
          <p:cNvPr id="5" name="Shape 3"/>
          <p:cNvSpPr/>
          <p:nvPr/>
        </p:nvSpPr>
        <p:spPr>
          <a:xfrm>
            <a:off x="640080" y="2240280"/>
            <a:ext cx="5394960" cy="1874520"/>
          </a:xfrm>
          <a:prstGeom prst="roundRect">
            <a:avLst>
              <a:gd name="adj" fmla="val 3902"/>
            </a:avLst>
          </a:prstGeom>
          <a:solidFill>
            <a:srgbClr val="F6F4FB"/>
          </a:solidFill>
          <a:ln w="12700">
            <a:solidFill>
              <a:srgbClr val="E4DFF0"/>
            </a:solidFill>
            <a:prstDash val="solid"/>
          </a:ln>
        </p:spPr>
        <p:txBody>
          <a:bodyPr/>
          <a:lstStyle/>
          <a:p>
            <a:endParaRPr lang="en-US"/>
          </a:p>
        </p:txBody>
      </p:sp>
      <p:sp>
        <p:nvSpPr>
          <p:cNvPr id="6" name="Shape 4"/>
          <p:cNvSpPr/>
          <p:nvPr/>
        </p:nvSpPr>
        <p:spPr>
          <a:xfrm>
            <a:off x="896112" y="2514600"/>
            <a:ext cx="512064" cy="512064"/>
          </a:xfrm>
          <a:prstGeom prst="ellipse">
            <a:avLst/>
          </a:prstGeom>
          <a:solidFill>
            <a:srgbClr val="231C40"/>
          </a:solidFill>
          <a:ln/>
        </p:spPr>
        <p:txBody>
          <a:bodyPr/>
          <a:lstStyle/>
          <a:p>
            <a:endParaRPr lang="en-US"/>
          </a:p>
        </p:txBody>
      </p:sp>
      <p:pic>
        <p:nvPicPr>
          <p:cNvPr id="7" name="Image 0" descr="/home/claude/tarot-deck/icons/zap-gold.png"/>
          <p:cNvPicPr>
            <a:picLocks noChangeAspect="1"/>
          </p:cNvPicPr>
          <p:nvPr/>
        </p:nvPicPr>
        <p:blipFill>
          <a:blip r:embed="rId3"/>
          <a:stretch>
            <a:fillRect/>
          </a:stretch>
        </p:blipFill>
        <p:spPr>
          <a:xfrm>
            <a:off x="1024128" y="2642616"/>
            <a:ext cx="256032" cy="256032"/>
          </a:xfrm>
          <a:prstGeom prst="rect">
            <a:avLst/>
          </a:prstGeom>
        </p:spPr>
      </p:pic>
      <p:sp>
        <p:nvSpPr>
          <p:cNvPr id="8" name="Text 5"/>
          <p:cNvSpPr txBox="1"/>
          <p:nvPr/>
        </p:nvSpPr>
        <p:spPr>
          <a:xfrm>
            <a:off x="1572768" y="2532888"/>
            <a:ext cx="4206240" cy="457200"/>
          </a:xfrm>
          <a:prstGeom prst="rect">
            <a:avLst/>
          </a:prstGeom>
          <a:noFill/>
          <a:ln/>
        </p:spPr>
        <p:txBody>
          <a:bodyPr wrap="square" lIns="0" tIns="0" rIns="0" bIns="0" rtlCol="0" anchor="ctr"/>
          <a:lstStyle/>
          <a:p>
            <a:pPr marL="0" indent="0">
              <a:buNone/>
            </a:pPr>
            <a:r>
              <a:rPr lang="en-US" sz="1800" b="1" dirty="0">
                <a:solidFill>
                  <a:srgbClr val="2B2545"/>
                </a:solidFill>
                <a:latin typeface="Calibri" pitchFamily="34" charset="0"/>
                <a:ea typeface="Calibri" pitchFamily="34" charset="-122"/>
                <a:cs typeface="Calibri" pitchFamily="34" charset="-120"/>
              </a:rPr>
              <a:t>Cards you earn</a:t>
            </a:r>
            <a:endParaRPr lang="en-US" sz="1800" dirty="0"/>
          </a:p>
        </p:txBody>
      </p:sp>
      <p:sp>
        <p:nvSpPr>
          <p:cNvPr id="9" name="Text 6"/>
          <p:cNvSpPr txBox="1"/>
          <p:nvPr/>
        </p:nvSpPr>
        <p:spPr>
          <a:xfrm>
            <a:off x="1572768" y="3081528"/>
            <a:ext cx="4206240" cy="868680"/>
          </a:xfrm>
          <a:prstGeom prst="rect">
            <a:avLst/>
          </a:prstGeom>
          <a:noFill/>
          <a:ln/>
        </p:spPr>
        <p:txBody>
          <a:bodyPr wrap="square" lIns="0" tIns="0" rIns="0" bIns="0" rtlCol="0" anchor="ctr"/>
          <a:lstStyle/>
          <a:p>
            <a:pPr marL="0" indent="0">
              <a:lnSpc>
                <a:spcPct val="112000"/>
              </a:lnSpc>
              <a:buNone/>
            </a:pPr>
            <a:r>
              <a:rPr lang="en-US" sz="1400" dirty="0">
                <a:solidFill>
                  <a:srgbClr val="5E5678"/>
                </a:solidFill>
                <a:latin typeface="Calibri" pitchFamily="34" charset="0"/>
                <a:ea typeface="Calibri" pitchFamily="34" charset="-122"/>
                <a:cs typeface="Calibri" pitchFamily="34" charset="-120"/>
              </a:rPr>
              <a:t>Opening up is what turns cards over. Nobody else has this.</a:t>
            </a:r>
            <a:endParaRPr lang="en-US" sz="1400" dirty="0"/>
          </a:p>
        </p:txBody>
      </p:sp>
      <p:sp>
        <p:nvSpPr>
          <p:cNvPr id="10" name="Shape 7"/>
          <p:cNvSpPr/>
          <p:nvPr/>
        </p:nvSpPr>
        <p:spPr>
          <a:xfrm>
            <a:off x="6172200" y="2240280"/>
            <a:ext cx="5394960" cy="1874520"/>
          </a:xfrm>
          <a:prstGeom prst="roundRect">
            <a:avLst>
              <a:gd name="adj" fmla="val 3902"/>
            </a:avLst>
          </a:prstGeom>
          <a:solidFill>
            <a:srgbClr val="F6F4FB"/>
          </a:solidFill>
          <a:ln w="12700">
            <a:solidFill>
              <a:srgbClr val="E4DFF0"/>
            </a:solidFill>
            <a:prstDash val="solid"/>
          </a:ln>
        </p:spPr>
        <p:txBody>
          <a:bodyPr/>
          <a:lstStyle/>
          <a:p>
            <a:endParaRPr lang="en-US"/>
          </a:p>
        </p:txBody>
      </p:sp>
      <p:sp>
        <p:nvSpPr>
          <p:cNvPr id="11" name="Shape 8"/>
          <p:cNvSpPr/>
          <p:nvPr/>
        </p:nvSpPr>
        <p:spPr>
          <a:xfrm>
            <a:off x="6428232" y="2514600"/>
            <a:ext cx="512064" cy="512064"/>
          </a:xfrm>
          <a:prstGeom prst="ellipse">
            <a:avLst/>
          </a:prstGeom>
          <a:solidFill>
            <a:srgbClr val="231C40"/>
          </a:solidFill>
          <a:ln/>
        </p:spPr>
        <p:txBody>
          <a:bodyPr/>
          <a:lstStyle/>
          <a:p>
            <a:endParaRPr lang="en-US"/>
          </a:p>
        </p:txBody>
      </p:sp>
      <p:pic>
        <p:nvPicPr>
          <p:cNvPr id="12" name="Image 1" descr="/home/claude/tarot-deck/icons/map-gold.png"/>
          <p:cNvPicPr>
            <a:picLocks noChangeAspect="1"/>
          </p:cNvPicPr>
          <p:nvPr/>
        </p:nvPicPr>
        <p:blipFill>
          <a:blip r:embed="rId4"/>
          <a:stretch>
            <a:fillRect/>
          </a:stretch>
        </p:blipFill>
        <p:spPr>
          <a:xfrm>
            <a:off x="6556248" y="2642616"/>
            <a:ext cx="256032" cy="256032"/>
          </a:xfrm>
          <a:prstGeom prst="rect">
            <a:avLst/>
          </a:prstGeom>
        </p:spPr>
      </p:pic>
      <p:sp>
        <p:nvSpPr>
          <p:cNvPr id="13" name="Text 9"/>
          <p:cNvSpPr txBox="1"/>
          <p:nvPr/>
        </p:nvSpPr>
        <p:spPr>
          <a:xfrm>
            <a:off x="7104888" y="2532888"/>
            <a:ext cx="4206240" cy="457200"/>
          </a:xfrm>
          <a:prstGeom prst="rect">
            <a:avLst/>
          </a:prstGeom>
          <a:noFill/>
          <a:ln/>
        </p:spPr>
        <p:txBody>
          <a:bodyPr wrap="square" lIns="0" tIns="0" rIns="0" bIns="0" rtlCol="0" anchor="ctr"/>
          <a:lstStyle/>
          <a:p>
            <a:pPr marL="0" indent="0">
              <a:buNone/>
            </a:pPr>
            <a:r>
              <a:rPr lang="en-US" sz="1800" b="1" dirty="0">
                <a:solidFill>
                  <a:srgbClr val="2B2545"/>
                </a:solidFill>
                <a:latin typeface="Calibri" pitchFamily="34" charset="0"/>
                <a:ea typeface="Calibri" pitchFamily="34" charset="-122"/>
                <a:cs typeface="Calibri" pitchFamily="34" charset="-120"/>
              </a:rPr>
              <a:t>One consistent reading</a:t>
            </a:r>
            <a:endParaRPr lang="en-US" sz="1800" dirty="0"/>
          </a:p>
        </p:txBody>
      </p:sp>
      <p:sp>
        <p:nvSpPr>
          <p:cNvPr id="14" name="Text 10"/>
          <p:cNvSpPr txBox="1"/>
          <p:nvPr/>
        </p:nvSpPr>
        <p:spPr>
          <a:xfrm>
            <a:off x="7104888" y="3081528"/>
            <a:ext cx="4206240" cy="868680"/>
          </a:xfrm>
          <a:prstGeom prst="rect">
            <a:avLst/>
          </a:prstGeom>
          <a:noFill/>
          <a:ln/>
        </p:spPr>
        <p:txBody>
          <a:bodyPr wrap="square" lIns="0" tIns="0" rIns="0" bIns="0" rtlCol="0" anchor="ctr"/>
          <a:lstStyle/>
          <a:p>
            <a:pPr marL="0" indent="0">
              <a:lnSpc>
                <a:spcPct val="112000"/>
              </a:lnSpc>
              <a:buNone/>
            </a:pPr>
            <a:r>
              <a:rPr lang="en-US" sz="1400" dirty="0">
                <a:solidFill>
                  <a:srgbClr val="5E5678"/>
                </a:solidFill>
                <a:latin typeface="Calibri" pitchFamily="34" charset="0"/>
                <a:ea typeface="Calibri" pitchFamily="34" charset="-122"/>
                <a:cs typeface="Calibri" pitchFamily="34" charset="-120"/>
              </a:rPr>
              <a:t>It remembers what it said and never contradicts itself.</a:t>
            </a:r>
            <a:endParaRPr lang="en-US" sz="1400" dirty="0"/>
          </a:p>
        </p:txBody>
      </p:sp>
      <p:sp>
        <p:nvSpPr>
          <p:cNvPr id="15" name="Shape 11"/>
          <p:cNvSpPr/>
          <p:nvPr/>
        </p:nvSpPr>
        <p:spPr>
          <a:xfrm>
            <a:off x="640080" y="4251960"/>
            <a:ext cx="5394960" cy="1874520"/>
          </a:xfrm>
          <a:prstGeom prst="roundRect">
            <a:avLst>
              <a:gd name="adj" fmla="val 3902"/>
            </a:avLst>
          </a:prstGeom>
          <a:solidFill>
            <a:srgbClr val="F6F4FB"/>
          </a:solidFill>
          <a:ln w="12700">
            <a:solidFill>
              <a:srgbClr val="E4DFF0"/>
            </a:solidFill>
            <a:prstDash val="solid"/>
          </a:ln>
        </p:spPr>
        <p:txBody>
          <a:bodyPr/>
          <a:lstStyle/>
          <a:p>
            <a:endParaRPr lang="en-US"/>
          </a:p>
        </p:txBody>
      </p:sp>
      <p:sp>
        <p:nvSpPr>
          <p:cNvPr id="16" name="Shape 12"/>
          <p:cNvSpPr/>
          <p:nvPr/>
        </p:nvSpPr>
        <p:spPr>
          <a:xfrm>
            <a:off x="896112" y="4526280"/>
            <a:ext cx="512064" cy="512064"/>
          </a:xfrm>
          <a:prstGeom prst="ellipse">
            <a:avLst/>
          </a:prstGeom>
          <a:solidFill>
            <a:srgbClr val="231C40"/>
          </a:solidFill>
          <a:ln/>
        </p:spPr>
        <p:txBody>
          <a:bodyPr/>
          <a:lstStyle/>
          <a:p>
            <a:endParaRPr lang="en-US"/>
          </a:p>
        </p:txBody>
      </p:sp>
      <p:pic>
        <p:nvPicPr>
          <p:cNvPr id="17" name="Image 2" descr="/home/claude/tarot-deck/icons/lock-gold.png"/>
          <p:cNvPicPr>
            <a:picLocks noChangeAspect="1"/>
          </p:cNvPicPr>
          <p:nvPr/>
        </p:nvPicPr>
        <p:blipFill>
          <a:blip r:embed="rId5"/>
          <a:stretch>
            <a:fillRect/>
          </a:stretch>
        </p:blipFill>
        <p:spPr>
          <a:xfrm>
            <a:off x="1024128" y="4654296"/>
            <a:ext cx="256032" cy="256032"/>
          </a:xfrm>
          <a:prstGeom prst="rect">
            <a:avLst/>
          </a:prstGeom>
        </p:spPr>
      </p:pic>
      <p:sp>
        <p:nvSpPr>
          <p:cNvPr id="18" name="Text 13"/>
          <p:cNvSpPr txBox="1"/>
          <p:nvPr/>
        </p:nvSpPr>
        <p:spPr>
          <a:xfrm>
            <a:off x="1572768" y="4544568"/>
            <a:ext cx="4206240" cy="457200"/>
          </a:xfrm>
          <a:prstGeom prst="rect">
            <a:avLst/>
          </a:prstGeom>
          <a:noFill/>
          <a:ln/>
        </p:spPr>
        <p:txBody>
          <a:bodyPr wrap="square" lIns="0" tIns="0" rIns="0" bIns="0" rtlCol="0" anchor="ctr"/>
          <a:lstStyle/>
          <a:p>
            <a:pPr marL="0" indent="0">
              <a:buNone/>
            </a:pPr>
            <a:r>
              <a:rPr lang="en-US" sz="1800" b="1" dirty="0">
                <a:solidFill>
                  <a:srgbClr val="2B2545"/>
                </a:solidFill>
                <a:latin typeface="Calibri" pitchFamily="34" charset="0"/>
                <a:ea typeface="Calibri" pitchFamily="34" charset="-122"/>
                <a:cs typeface="Calibri" pitchFamily="34" charset="-120"/>
              </a:rPr>
              <a:t>Provably private</a:t>
            </a:r>
            <a:endParaRPr lang="en-US" sz="1800" dirty="0"/>
          </a:p>
        </p:txBody>
      </p:sp>
      <p:sp>
        <p:nvSpPr>
          <p:cNvPr id="19" name="Text 14"/>
          <p:cNvSpPr txBox="1"/>
          <p:nvPr/>
        </p:nvSpPr>
        <p:spPr>
          <a:xfrm>
            <a:off x="1572768" y="5093208"/>
            <a:ext cx="4206240" cy="868680"/>
          </a:xfrm>
          <a:prstGeom prst="rect">
            <a:avLst/>
          </a:prstGeom>
          <a:noFill/>
          <a:ln/>
        </p:spPr>
        <p:txBody>
          <a:bodyPr wrap="square" lIns="0" tIns="0" rIns="0" bIns="0" rtlCol="0" anchor="ctr"/>
          <a:lstStyle/>
          <a:p>
            <a:pPr marL="0" indent="0">
              <a:lnSpc>
                <a:spcPct val="112000"/>
              </a:lnSpc>
              <a:buNone/>
            </a:pPr>
            <a:r>
              <a:rPr lang="en-US" sz="1400" dirty="0">
                <a:solidFill>
                  <a:srgbClr val="5E5678"/>
                </a:solidFill>
                <a:latin typeface="Calibri" pitchFamily="34" charset="0"/>
                <a:ea typeface="Calibri" pitchFamily="34" charset="-122"/>
                <a:cs typeface="Calibri" pitchFamily="34" charset="-120"/>
              </a:rPr>
              <a:t>You can read the code and run the tests. Not a promise.</a:t>
            </a:r>
            <a:endParaRPr lang="en-US" sz="1400" dirty="0"/>
          </a:p>
        </p:txBody>
      </p:sp>
      <p:sp>
        <p:nvSpPr>
          <p:cNvPr id="20" name="Shape 15"/>
          <p:cNvSpPr/>
          <p:nvPr/>
        </p:nvSpPr>
        <p:spPr>
          <a:xfrm>
            <a:off x="6172200" y="4251960"/>
            <a:ext cx="5394960" cy="1874520"/>
          </a:xfrm>
          <a:prstGeom prst="roundRect">
            <a:avLst>
              <a:gd name="adj" fmla="val 3902"/>
            </a:avLst>
          </a:prstGeom>
          <a:solidFill>
            <a:srgbClr val="F6F4FB"/>
          </a:solidFill>
          <a:ln w="12700">
            <a:solidFill>
              <a:srgbClr val="E4DFF0"/>
            </a:solidFill>
            <a:prstDash val="solid"/>
          </a:ln>
        </p:spPr>
        <p:txBody>
          <a:bodyPr/>
          <a:lstStyle/>
          <a:p>
            <a:endParaRPr lang="en-US"/>
          </a:p>
        </p:txBody>
      </p:sp>
      <p:sp>
        <p:nvSpPr>
          <p:cNvPr id="21" name="Shape 16"/>
          <p:cNvSpPr/>
          <p:nvPr/>
        </p:nvSpPr>
        <p:spPr>
          <a:xfrm>
            <a:off x="6428232" y="4526280"/>
            <a:ext cx="512064" cy="512064"/>
          </a:xfrm>
          <a:prstGeom prst="ellipse">
            <a:avLst/>
          </a:prstGeom>
          <a:solidFill>
            <a:srgbClr val="231C40"/>
          </a:solidFill>
          <a:ln/>
        </p:spPr>
        <p:txBody>
          <a:bodyPr/>
          <a:lstStyle/>
          <a:p>
            <a:endParaRPr lang="en-US"/>
          </a:p>
        </p:txBody>
      </p:sp>
      <p:pic>
        <p:nvPicPr>
          <p:cNvPr id="22" name="Image 3" descr="/home/claude/tarot-deck/icons/pkg-gold.png"/>
          <p:cNvPicPr>
            <a:picLocks noChangeAspect="1"/>
          </p:cNvPicPr>
          <p:nvPr/>
        </p:nvPicPr>
        <p:blipFill>
          <a:blip r:embed="rId6"/>
          <a:stretch>
            <a:fillRect/>
          </a:stretch>
        </p:blipFill>
        <p:spPr>
          <a:xfrm>
            <a:off x="6556248" y="4654296"/>
            <a:ext cx="256032" cy="256032"/>
          </a:xfrm>
          <a:prstGeom prst="rect">
            <a:avLst/>
          </a:prstGeom>
        </p:spPr>
      </p:pic>
      <p:sp>
        <p:nvSpPr>
          <p:cNvPr id="23" name="Text 17"/>
          <p:cNvSpPr txBox="1"/>
          <p:nvPr/>
        </p:nvSpPr>
        <p:spPr>
          <a:xfrm>
            <a:off x="7104888" y="4544568"/>
            <a:ext cx="4206240" cy="457200"/>
          </a:xfrm>
          <a:prstGeom prst="rect">
            <a:avLst/>
          </a:prstGeom>
          <a:noFill/>
          <a:ln/>
        </p:spPr>
        <p:txBody>
          <a:bodyPr wrap="square" lIns="0" tIns="0" rIns="0" bIns="0" rtlCol="0" anchor="ctr"/>
          <a:lstStyle/>
          <a:p>
            <a:pPr marL="0" indent="0">
              <a:buNone/>
            </a:pPr>
            <a:r>
              <a:rPr lang="en-US" sz="1800" b="1" dirty="0">
                <a:solidFill>
                  <a:srgbClr val="2B2545"/>
                </a:solidFill>
                <a:latin typeface="Calibri" pitchFamily="34" charset="0"/>
                <a:ea typeface="Calibri" pitchFamily="34" charset="-122"/>
                <a:cs typeface="Calibri" pitchFamily="34" charset="-120"/>
              </a:rPr>
              <a:t>Swappable decks</a:t>
            </a:r>
            <a:endParaRPr lang="en-US" sz="1800" dirty="0"/>
          </a:p>
        </p:txBody>
      </p:sp>
      <p:sp>
        <p:nvSpPr>
          <p:cNvPr id="24" name="Text 18"/>
          <p:cNvSpPr txBox="1"/>
          <p:nvPr/>
        </p:nvSpPr>
        <p:spPr>
          <a:xfrm>
            <a:off x="7104888" y="5093208"/>
            <a:ext cx="4206240" cy="868680"/>
          </a:xfrm>
          <a:prstGeom prst="rect">
            <a:avLst/>
          </a:prstGeom>
          <a:noFill/>
          <a:ln/>
        </p:spPr>
        <p:txBody>
          <a:bodyPr wrap="square" lIns="0" tIns="0" rIns="0" bIns="0" rtlCol="0" anchor="ctr"/>
          <a:lstStyle/>
          <a:p>
            <a:pPr marL="0" indent="0">
              <a:lnSpc>
                <a:spcPct val="112000"/>
              </a:lnSpc>
              <a:buNone/>
            </a:pPr>
            <a:r>
              <a:rPr lang="en-US" sz="1400" dirty="0">
                <a:solidFill>
                  <a:srgbClr val="5E5678"/>
                </a:solidFill>
                <a:latin typeface="Calibri" pitchFamily="34" charset="0"/>
                <a:ea typeface="Calibri" pitchFamily="34" charset="-122"/>
                <a:cs typeface="Calibri" pitchFamily="34" charset="-120"/>
              </a:rPr>
              <a:t>A deck is a data file. Drop in your own; the app doesn't change.</a:t>
            </a:r>
            <a:endParaRPr lang="en-US" sz="1400" dirty="0"/>
          </a:p>
        </p:txBody>
      </p:sp>
      <p:sp>
        <p:nvSpPr>
          <p:cNvPr id="25" name="Text 19"/>
          <p:cNvSpPr txBox="1"/>
          <p:nvPr/>
        </p:nvSpPr>
        <p:spPr>
          <a:xfrm>
            <a:off x="9262872" y="6473952"/>
            <a:ext cx="2377440" cy="274320"/>
          </a:xfrm>
          <a:prstGeom prst="rect">
            <a:avLst/>
          </a:prstGeom>
          <a:noFill/>
          <a:ln/>
        </p:spPr>
        <p:txBody>
          <a:bodyPr wrap="square" lIns="0" tIns="0" rIns="0" bIns="0" rtlCol="0" anchor="ctr"/>
          <a:lstStyle/>
          <a:p>
            <a:pPr marL="0" indent="0" algn="r">
              <a:buNone/>
            </a:pPr>
            <a:r>
              <a:rPr lang="en-US" sz="1000" dirty="0">
                <a:solidFill>
                  <a:srgbClr val="5E5678"/>
                </a:solidFill>
                <a:latin typeface="Calibri" pitchFamily="34" charset="0"/>
                <a:ea typeface="Calibri" pitchFamily="34" charset="-122"/>
                <a:cs typeface="Calibri" pitchFamily="34" charset="-120"/>
              </a:rPr>
              <a:t>AI Tarot Projection  ·  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11480"/>
            <a:ext cx="8229600" cy="320040"/>
          </a:xfrm>
          <a:prstGeom prst="rect">
            <a:avLst/>
          </a:prstGeom>
          <a:noFill/>
          <a:ln/>
        </p:spPr>
        <p:txBody>
          <a:bodyPr wrap="square" lIns="0" tIns="0" rIns="0" bIns="0" rtlCol="0" anchor="ctr"/>
          <a:lstStyle/>
          <a:p>
            <a:pPr marL="0" indent="0" algn="l">
              <a:buNone/>
            </a:pPr>
            <a:r>
              <a:rPr lang="en-US" sz="1300" b="1" kern="0" spc="300" dirty="0">
                <a:solidFill>
                  <a:srgbClr val="8A6C1E"/>
                </a:solidFill>
                <a:latin typeface="Calibri" pitchFamily="34" charset="0"/>
                <a:ea typeface="Calibri" pitchFamily="34" charset="-122"/>
                <a:cs typeface="Calibri" pitchFamily="34" charset="-120"/>
              </a:rPr>
              <a:t>FUTURE DIRECTIONS</a:t>
            </a:r>
            <a:endParaRPr lang="en-US" sz="1300" dirty="0"/>
          </a:p>
        </p:txBody>
      </p:sp>
      <p:sp>
        <p:nvSpPr>
          <p:cNvPr id="3" name="Text 1"/>
          <p:cNvSpPr txBox="1"/>
          <p:nvPr/>
        </p:nvSpPr>
        <p:spPr>
          <a:xfrm>
            <a:off x="640080" y="731520"/>
            <a:ext cx="10881360" cy="868680"/>
          </a:xfrm>
          <a:prstGeom prst="rect">
            <a:avLst/>
          </a:prstGeom>
          <a:noFill/>
          <a:ln/>
        </p:spPr>
        <p:txBody>
          <a:bodyPr wrap="square" lIns="0" tIns="0" rIns="0" bIns="0" rtlCol="0" anchor="ctr"/>
          <a:lstStyle/>
          <a:p>
            <a:pPr marL="0" indent="0" algn="l">
              <a:buNone/>
            </a:pPr>
            <a:r>
              <a:rPr lang="en-US" sz="3600" b="1" dirty="0">
                <a:solidFill>
                  <a:srgbClr val="2B2545"/>
                </a:solidFill>
                <a:latin typeface="Cambria" pitchFamily="34" charset="0"/>
                <a:ea typeface="Cambria" pitchFamily="34" charset="-122"/>
                <a:cs typeface="Cambria" pitchFamily="34" charset="-120"/>
              </a:rPr>
              <a:t>Where this goes next</a:t>
            </a:r>
            <a:endParaRPr lang="en-US" sz="3600" dirty="0"/>
          </a:p>
        </p:txBody>
      </p:sp>
      <p:sp>
        <p:nvSpPr>
          <p:cNvPr id="4" name="Shape 2"/>
          <p:cNvSpPr/>
          <p:nvPr/>
        </p:nvSpPr>
        <p:spPr>
          <a:xfrm>
            <a:off x="640080" y="1920240"/>
            <a:ext cx="5394960" cy="1874520"/>
          </a:xfrm>
          <a:prstGeom prst="roundRect">
            <a:avLst>
              <a:gd name="adj" fmla="val 3902"/>
            </a:avLst>
          </a:prstGeom>
          <a:solidFill>
            <a:srgbClr val="F6F4FB"/>
          </a:solidFill>
          <a:ln w="12700">
            <a:solidFill>
              <a:srgbClr val="E4DFF0"/>
            </a:solidFill>
            <a:prstDash val="solid"/>
          </a:ln>
        </p:spPr>
        <p:txBody>
          <a:bodyPr/>
          <a:lstStyle/>
          <a:p>
            <a:endParaRPr lang="en-US"/>
          </a:p>
        </p:txBody>
      </p:sp>
      <p:sp>
        <p:nvSpPr>
          <p:cNvPr id="5" name="Shape 3"/>
          <p:cNvSpPr/>
          <p:nvPr/>
        </p:nvSpPr>
        <p:spPr>
          <a:xfrm>
            <a:off x="896112" y="2194560"/>
            <a:ext cx="512064" cy="512064"/>
          </a:xfrm>
          <a:prstGeom prst="ellipse">
            <a:avLst/>
          </a:prstGeom>
          <a:solidFill>
            <a:srgbClr val="231C40"/>
          </a:solidFill>
          <a:ln/>
        </p:spPr>
        <p:txBody>
          <a:bodyPr/>
          <a:lstStyle/>
          <a:p>
            <a:endParaRPr lang="en-US"/>
          </a:p>
        </p:txBody>
      </p:sp>
      <p:pic>
        <p:nvPicPr>
          <p:cNvPr id="6" name="Image 0" descr="/home/claude/tarot-deck/icons/feather-gold.png"/>
          <p:cNvPicPr>
            <a:picLocks noChangeAspect="1"/>
          </p:cNvPicPr>
          <p:nvPr/>
        </p:nvPicPr>
        <p:blipFill>
          <a:blip r:embed="rId3"/>
          <a:stretch>
            <a:fillRect/>
          </a:stretch>
        </p:blipFill>
        <p:spPr>
          <a:xfrm>
            <a:off x="1024128" y="2322576"/>
            <a:ext cx="256032" cy="256032"/>
          </a:xfrm>
          <a:prstGeom prst="rect">
            <a:avLst/>
          </a:prstGeom>
        </p:spPr>
      </p:pic>
      <p:sp>
        <p:nvSpPr>
          <p:cNvPr id="7" name="Text 4"/>
          <p:cNvSpPr txBox="1"/>
          <p:nvPr/>
        </p:nvSpPr>
        <p:spPr>
          <a:xfrm>
            <a:off x="1572768" y="2212848"/>
            <a:ext cx="4206240" cy="457200"/>
          </a:xfrm>
          <a:prstGeom prst="rect">
            <a:avLst/>
          </a:prstGeom>
          <a:noFill/>
          <a:ln/>
        </p:spPr>
        <p:txBody>
          <a:bodyPr wrap="square" lIns="0" tIns="0" rIns="0" bIns="0" rtlCol="0" anchor="ctr"/>
          <a:lstStyle/>
          <a:p>
            <a:pPr marL="0" indent="0">
              <a:buNone/>
            </a:pPr>
            <a:r>
              <a:rPr lang="en-US" sz="1800" b="1" dirty="0">
                <a:solidFill>
                  <a:srgbClr val="2B2545"/>
                </a:solidFill>
                <a:latin typeface="Calibri" pitchFamily="34" charset="0"/>
                <a:ea typeface="Calibri" pitchFamily="34" charset="-122"/>
                <a:cs typeface="Calibri" pitchFamily="34" charset="-120"/>
              </a:rPr>
              <a:t>Custom-designed decks</a:t>
            </a:r>
            <a:endParaRPr lang="en-US" sz="1800" dirty="0"/>
          </a:p>
        </p:txBody>
      </p:sp>
      <p:sp>
        <p:nvSpPr>
          <p:cNvPr id="8" name="Text 5"/>
          <p:cNvSpPr txBox="1"/>
          <p:nvPr/>
        </p:nvSpPr>
        <p:spPr>
          <a:xfrm>
            <a:off x="1572768" y="2761488"/>
            <a:ext cx="4206240" cy="868680"/>
          </a:xfrm>
          <a:prstGeom prst="rect">
            <a:avLst/>
          </a:prstGeom>
          <a:noFill/>
          <a:ln/>
        </p:spPr>
        <p:txBody>
          <a:bodyPr wrap="square" lIns="0" tIns="0" rIns="0" bIns="0" rtlCol="0" anchor="ctr"/>
          <a:lstStyle/>
          <a:p>
            <a:pPr marL="0" indent="0">
              <a:lnSpc>
                <a:spcPct val="112000"/>
              </a:lnSpc>
              <a:buNone/>
            </a:pPr>
            <a:r>
              <a:rPr lang="en-US" sz="1400" dirty="0">
                <a:solidFill>
                  <a:srgbClr val="5E5678"/>
                </a:solidFill>
                <a:latin typeface="Calibri" pitchFamily="34" charset="0"/>
                <a:ea typeface="Calibri" pitchFamily="34" charset="-122"/>
                <a:cs typeface="Calibri" pitchFamily="34" charset="-120"/>
              </a:rPr>
              <a:t>A new deck is art and text, not code: Marseille, Chinese, original art.</a:t>
            </a:r>
            <a:endParaRPr lang="en-US" sz="1400" dirty="0"/>
          </a:p>
        </p:txBody>
      </p:sp>
      <p:sp>
        <p:nvSpPr>
          <p:cNvPr id="9" name="Shape 6"/>
          <p:cNvSpPr/>
          <p:nvPr/>
        </p:nvSpPr>
        <p:spPr>
          <a:xfrm>
            <a:off x="6172200" y="1920240"/>
            <a:ext cx="5394960" cy="1874520"/>
          </a:xfrm>
          <a:prstGeom prst="roundRect">
            <a:avLst>
              <a:gd name="adj" fmla="val 3902"/>
            </a:avLst>
          </a:prstGeom>
          <a:solidFill>
            <a:srgbClr val="F6F4FB"/>
          </a:solidFill>
          <a:ln w="12700">
            <a:solidFill>
              <a:srgbClr val="E4DFF0"/>
            </a:solidFill>
            <a:prstDash val="solid"/>
          </a:ln>
        </p:spPr>
        <p:txBody>
          <a:bodyPr/>
          <a:lstStyle/>
          <a:p>
            <a:endParaRPr lang="en-US"/>
          </a:p>
        </p:txBody>
      </p:sp>
      <p:sp>
        <p:nvSpPr>
          <p:cNvPr id="10" name="Shape 7"/>
          <p:cNvSpPr/>
          <p:nvPr/>
        </p:nvSpPr>
        <p:spPr>
          <a:xfrm>
            <a:off x="6428232" y="2194560"/>
            <a:ext cx="512064" cy="512064"/>
          </a:xfrm>
          <a:prstGeom prst="ellipse">
            <a:avLst/>
          </a:prstGeom>
          <a:solidFill>
            <a:srgbClr val="231C40"/>
          </a:solidFill>
          <a:ln/>
        </p:spPr>
        <p:txBody>
          <a:bodyPr/>
          <a:lstStyle/>
          <a:p>
            <a:endParaRPr lang="en-US"/>
          </a:p>
        </p:txBody>
      </p:sp>
      <p:pic>
        <p:nvPicPr>
          <p:cNvPr id="11" name="Image 1" descr="/home/claude/tarot-deck/icons/sun-gold.png"/>
          <p:cNvPicPr>
            <a:picLocks noChangeAspect="1"/>
          </p:cNvPicPr>
          <p:nvPr/>
        </p:nvPicPr>
        <p:blipFill>
          <a:blip r:embed="rId4"/>
          <a:stretch>
            <a:fillRect/>
          </a:stretch>
        </p:blipFill>
        <p:spPr>
          <a:xfrm>
            <a:off x="6556248" y="2322576"/>
            <a:ext cx="256032" cy="256032"/>
          </a:xfrm>
          <a:prstGeom prst="rect">
            <a:avLst/>
          </a:prstGeom>
        </p:spPr>
      </p:pic>
      <p:sp>
        <p:nvSpPr>
          <p:cNvPr id="12" name="Text 8"/>
          <p:cNvSpPr txBox="1"/>
          <p:nvPr/>
        </p:nvSpPr>
        <p:spPr>
          <a:xfrm>
            <a:off x="7104888" y="2212848"/>
            <a:ext cx="4206240" cy="457200"/>
          </a:xfrm>
          <a:prstGeom prst="rect">
            <a:avLst/>
          </a:prstGeom>
          <a:noFill/>
          <a:ln/>
        </p:spPr>
        <p:txBody>
          <a:bodyPr wrap="square" lIns="0" tIns="0" rIns="0" bIns="0" rtlCol="0" anchor="ctr"/>
          <a:lstStyle/>
          <a:p>
            <a:pPr marL="0" indent="0">
              <a:buNone/>
            </a:pPr>
            <a:r>
              <a:rPr lang="en-US" sz="1800" b="1" dirty="0">
                <a:solidFill>
                  <a:srgbClr val="2B2545"/>
                </a:solidFill>
                <a:latin typeface="Calibri" pitchFamily="34" charset="0"/>
                <a:ea typeface="Calibri" pitchFamily="34" charset="-122"/>
                <a:cs typeface="Calibri" pitchFamily="34" charset="-120"/>
              </a:rPr>
              <a:t>Zodiac integration</a:t>
            </a:r>
            <a:endParaRPr lang="en-US" sz="1800" dirty="0"/>
          </a:p>
        </p:txBody>
      </p:sp>
      <p:sp>
        <p:nvSpPr>
          <p:cNvPr id="13" name="Text 9"/>
          <p:cNvSpPr txBox="1"/>
          <p:nvPr/>
        </p:nvSpPr>
        <p:spPr>
          <a:xfrm>
            <a:off x="7104888" y="2761488"/>
            <a:ext cx="4206240" cy="868680"/>
          </a:xfrm>
          <a:prstGeom prst="rect">
            <a:avLst/>
          </a:prstGeom>
          <a:noFill/>
          <a:ln/>
        </p:spPr>
        <p:txBody>
          <a:bodyPr wrap="square" lIns="0" tIns="0" rIns="0" bIns="0" rtlCol="0" anchor="ctr"/>
          <a:lstStyle/>
          <a:p>
            <a:pPr marL="0" indent="0">
              <a:lnSpc>
                <a:spcPct val="112000"/>
              </a:lnSpc>
              <a:buNone/>
            </a:pPr>
            <a:r>
              <a:rPr lang="en-US" sz="1400" dirty="0">
                <a:solidFill>
                  <a:srgbClr val="5E5678"/>
                </a:solidFill>
                <a:latin typeface="Calibri" pitchFamily="34" charset="0"/>
                <a:ea typeface="Calibri" pitchFamily="34" charset="-122"/>
                <a:cs typeface="Calibri" pitchFamily="34" charset="-120"/>
              </a:rPr>
              <a:t>The audiences overlap. A birth-chart layer, plus a daily card ritual.</a:t>
            </a:r>
            <a:endParaRPr lang="en-US" sz="1400" dirty="0"/>
          </a:p>
        </p:txBody>
      </p:sp>
      <p:sp>
        <p:nvSpPr>
          <p:cNvPr id="14" name="Shape 10"/>
          <p:cNvSpPr/>
          <p:nvPr/>
        </p:nvSpPr>
        <p:spPr>
          <a:xfrm>
            <a:off x="640080" y="3931920"/>
            <a:ext cx="5394960" cy="1874520"/>
          </a:xfrm>
          <a:prstGeom prst="roundRect">
            <a:avLst>
              <a:gd name="adj" fmla="val 3902"/>
            </a:avLst>
          </a:prstGeom>
          <a:solidFill>
            <a:srgbClr val="F6F4FB"/>
          </a:solidFill>
          <a:ln w="12700">
            <a:solidFill>
              <a:srgbClr val="E4DFF0"/>
            </a:solidFill>
            <a:prstDash val="solid"/>
          </a:ln>
        </p:spPr>
        <p:txBody>
          <a:bodyPr/>
          <a:lstStyle/>
          <a:p>
            <a:endParaRPr lang="en-US"/>
          </a:p>
        </p:txBody>
      </p:sp>
      <p:sp>
        <p:nvSpPr>
          <p:cNvPr id="15" name="Shape 11"/>
          <p:cNvSpPr/>
          <p:nvPr/>
        </p:nvSpPr>
        <p:spPr>
          <a:xfrm>
            <a:off x="896112" y="4206240"/>
            <a:ext cx="512064" cy="512064"/>
          </a:xfrm>
          <a:prstGeom prst="ellipse">
            <a:avLst/>
          </a:prstGeom>
          <a:solidFill>
            <a:srgbClr val="231C40"/>
          </a:solidFill>
          <a:ln/>
        </p:spPr>
        <p:txBody>
          <a:bodyPr/>
          <a:lstStyle/>
          <a:p>
            <a:endParaRPr lang="en-US"/>
          </a:p>
        </p:txBody>
      </p:sp>
      <p:pic>
        <p:nvPicPr>
          <p:cNvPr id="16" name="Image 2" descr="/home/claude/tarot-deck/icons/user-gold.png"/>
          <p:cNvPicPr>
            <a:picLocks noChangeAspect="1"/>
          </p:cNvPicPr>
          <p:nvPr/>
        </p:nvPicPr>
        <p:blipFill>
          <a:blip r:embed="rId5"/>
          <a:stretch>
            <a:fillRect/>
          </a:stretch>
        </p:blipFill>
        <p:spPr>
          <a:xfrm>
            <a:off x="1024128" y="4334256"/>
            <a:ext cx="256032" cy="256032"/>
          </a:xfrm>
          <a:prstGeom prst="rect">
            <a:avLst/>
          </a:prstGeom>
        </p:spPr>
      </p:pic>
      <p:sp>
        <p:nvSpPr>
          <p:cNvPr id="17" name="Text 12"/>
          <p:cNvSpPr txBox="1"/>
          <p:nvPr/>
        </p:nvSpPr>
        <p:spPr>
          <a:xfrm>
            <a:off x="1572768" y="4224528"/>
            <a:ext cx="4206240" cy="457200"/>
          </a:xfrm>
          <a:prstGeom prst="rect">
            <a:avLst/>
          </a:prstGeom>
          <a:noFill/>
          <a:ln/>
        </p:spPr>
        <p:txBody>
          <a:bodyPr wrap="square" lIns="0" tIns="0" rIns="0" bIns="0" rtlCol="0" anchor="ctr"/>
          <a:lstStyle/>
          <a:p>
            <a:pPr marL="0" indent="0">
              <a:buNone/>
            </a:pPr>
            <a:r>
              <a:rPr lang="en-US" sz="1800" b="1" dirty="0">
                <a:solidFill>
                  <a:srgbClr val="2B2545"/>
                </a:solidFill>
                <a:latin typeface="Calibri" pitchFamily="34" charset="0"/>
                <a:ea typeface="Calibri" pitchFamily="34" charset="-122"/>
                <a:cs typeface="Calibri" pitchFamily="34" charset="-120"/>
              </a:rPr>
              <a:t>Memory that's earned</a:t>
            </a:r>
            <a:endParaRPr lang="en-US" sz="1800" dirty="0"/>
          </a:p>
        </p:txBody>
      </p:sp>
      <p:sp>
        <p:nvSpPr>
          <p:cNvPr id="18" name="Text 13"/>
          <p:cNvSpPr txBox="1"/>
          <p:nvPr/>
        </p:nvSpPr>
        <p:spPr>
          <a:xfrm>
            <a:off x="1572768" y="4773168"/>
            <a:ext cx="4206240" cy="868680"/>
          </a:xfrm>
          <a:prstGeom prst="rect">
            <a:avLst/>
          </a:prstGeom>
          <a:noFill/>
          <a:ln/>
        </p:spPr>
        <p:txBody>
          <a:bodyPr wrap="square" lIns="0" tIns="0" rIns="0" bIns="0" rtlCol="0" anchor="ctr"/>
          <a:lstStyle/>
          <a:p>
            <a:pPr marL="0" indent="0">
              <a:lnSpc>
                <a:spcPct val="112000"/>
              </a:lnSpc>
              <a:buNone/>
            </a:pPr>
            <a:r>
              <a:rPr lang="en-US" sz="1400" dirty="0">
                <a:solidFill>
                  <a:srgbClr val="5E5678"/>
                </a:solidFill>
                <a:latin typeface="Calibri" pitchFamily="34" charset="0"/>
                <a:ea typeface="Calibri" pitchFamily="34" charset="-122"/>
                <a:cs typeface="Calibri" pitchFamily="34" charset="-120"/>
              </a:rPr>
              <a:t>It remembers you more with each visit. Stored only on your device.</a:t>
            </a:r>
            <a:endParaRPr lang="en-US" sz="1400" dirty="0"/>
          </a:p>
        </p:txBody>
      </p:sp>
      <p:sp>
        <p:nvSpPr>
          <p:cNvPr id="19" name="Shape 14"/>
          <p:cNvSpPr/>
          <p:nvPr/>
        </p:nvSpPr>
        <p:spPr>
          <a:xfrm>
            <a:off x="6172200" y="3931920"/>
            <a:ext cx="5394960" cy="1874520"/>
          </a:xfrm>
          <a:prstGeom prst="roundRect">
            <a:avLst>
              <a:gd name="adj" fmla="val 3902"/>
            </a:avLst>
          </a:prstGeom>
          <a:solidFill>
            <a:srgbClr val="F6F4FB"/>
          </a:solidFill>
          <a:ln w="12700">
            <a:solidFill>
              <a:srgbClr val="E4DFF0"/>
            </a:solidFill>
            <a:prstDash val="solid"/>
          </a:ln>
        </p:spPr>
        <p:txBody>
          <a:bodyPr/>
          <a:lstStyle/>
          <a:p>
            <a:endParaRPr lang="en-US"/>
          </a:p>
        </p:txBody>
      </p:sp>
      <p:sp>
        <p:nvSpPr>
          <p:cNvPr id="20" name="Shape 15"/>
          <p:cNvSpPr/>
          <p:nvPr/>
        </p:nvSpPr>
        <p:spPr>
          <a:xfrm>
            <a:off x="6428232" y="4206240"/>
            <a:ext cx="512064" cy="512064"/>
          </a:xfrm>
          <a:prstGeom prst="ellipse">
            <a:avLst/>
          </a:prstGeom>
          <a:solidFill>
            <a:srgbClr val="231C40"/>
          </a:solidFill>
          <a:ln/>
        </p:spPr>
        <p:txBody>
          <a:bodyPr/>
          <a:lstStyle/>
          <a:p>
            <a:endParaRPr lang="en-US"/>
          </a:p>
        </p:txBody>
      </p:sp>
      <p:pic>
        <p:nvPicPr>
          <p:cNvPr id="21" name="Image 3" descr="/home/claude/tarot-deck/icons/compass-gold.png"/>
          <p:cNvPicPr>
            <a:picLocks noChangeAspect="1"/>
          </p:cNvPicPr>
          <p:nvPr/>
        </p:nvPicPr>
        <p:blipFill>
          <a:blip r:embed="rId6"/>
          <a:stretch>
            <a:fillRect/>
          </a:stretch>
        </p:blipFill>
        <p:spPr>
          <a:xfrm>
            <a:off x="6556248" y="4334256"/>
            <a:ext cx="256032" cy="256032"/>
          </a:xfrm>
          <a:prstGeom prst="rect">
            <a:avLst/>
          </a:prstGeom>
        </p:spPr>
      </p:pic>
      <p:sp>
        <p:nvSpPr>
          <p:cNvPr id="22" name="Text 16"/>
          <p:cNvSpPr txBox="1"/>
          <p:nvPr/>
        </p:nvSpPr>
        <p:spPr>
          <a:xfrm>
            <a:off x="7104888" y="4224528"/>
            <a:ext cx="4206240" cy="457200"/>
          </a:xfrm>
          <a:prstGeom prst="rect">
            <a:avLst/>
          </a:prstGeom>
          <a:noFill/>
          <a:ln/>
        </p:spPr>
        <p:txBody>
          <a:bodyPr wrap="square" lIns="0" tIns="0" rIns="0" bIns="0" rtlCol="0" anchor="ctr"/>
          <a:lstStyle/>
          <a:p>
            <a:pPr marL="0" indent="0">
              <a:buNone/>
            </a:pPr>
            <a:r>
              <a:rPr lang="en-US" sz="1800" b="1" dirty="0">
                <a:solidFill>
                  <a:srgbClr val="2B2545"/>
                </a:solidFill>
                <a:latin typeface="Calibri" pitchFamily="34" charset="0"/>
                <a:ea typeface="Calibri" pitchFamily="34" charset="-122"/>
                <a:cs typeface="Calibri" pitchFamily="34" charset="-120"/>
              </a:rPr>
              <a:t>Beyond tarot</a:t>
            </a:r>
            <a:endParaRPr lang="en-US" sz="1800" dirty="0"/>
          </a:p>
        </p:txBody>
      </p:sp>
      <p:sp>
        <p:nvSpPr>
          <p:cNvPr id="23" name="Text 17"/>
          <p:cNvSpPr txBox="1"/>
          <p:nvPr/>
        </p:nvSpPr>
        <p:spPr>
          <a:xfrm>
            <a:off x="7104888" y="4773168"/>
            <a:ext cx="4206240" cy="868680"/>
          </a:xfrm>
          <a:prstGeom prst="rect">
            <a:avLst/>
          </a:prstGeom>
          <a:noFill/>
          <a:ln/>
        </p:spPr>
        <p:txBody>
          <a:bodyPr wrap="square" lIns="0" tIns="0" rIns="0" bIns="0" rtlCol="0" anchor="ctr"/>
          <a:lstStyle/>
          <a:p>
            <a:pPr marL="0" indent="0">
              <a:lnSpc>
                <a:spcPct val="112000"/>
              </a:lnSpc>
              <a:buNone/>
            </a:pPr>
            <a:r>
              <a:rPr lang="en-US" sz="1400" dirty="0">
                <a:solidFill>
                  <a:srgbClr val="5E5678"/>
                </a:solidFill>
                <a:latin typeface="Calibri" pitchFamily="34" charset="0"/>
                <a:ea typeface="Calibri" pitchFamily="34" charset="-122"/>
                <a:cs typeface="Calibri" pitchFamily="34" charset="-120"/>
              </a:rPr>
              <a:t>The same engine can power journaling or any talk-through-a-picture tool.</a:t>
            </a:r>
            <a:endParaRPr lang="en-US" sz="1400" dirty="0"/>
          </a:p>
        </p:txBody>
      </p:sp>
      <p:sp>
        <p:nvSpPr>
          <p:cNvPr id="24" name="Text 18"/>
          <p:cNvSpPr txBox="1"/>
          <p:nvPr/>
        </p:nvSpPr>
        <p:spPr>
          <a:xfrm>
            <a:off x="640080" y="5943600"/>
            <a:ext cx="10881360" cy="411480"/>
          </a:xfrm>
          <a:prstGeom prst="rect">
            <a:avLst/>
          </a:prstGeom>
          <a:noFill/>
          <a:ln/>
        </p:spPr>
        <p:txBody>
          <a:bodyPr wrap="square" lIns="0" tIns="0" rIns="0" bIns="0" rtlCol="0" anchor="ctr"/>
          <a:lstStyle/>
          <a:p>
            <a:pPr marL="0" indent="0">
              <a:buNone/>
            </a:pPr>
            <a:r>
              <a:rPr lang="en-US" sz="1350" i="1" dirty="0">
                <a:solidFill>
                  <a:srgbClr val="8A6C1E"/>
                </a:solidFill>
                <a:latin typeface="Calibri" pitchFamily="34" charset="0"/>
                <a:ea typeface="Calibri" pitchFamily="34" charset="-122"/>
                <a:cs typeface="Calibri" pitchFamily="34" charset="-120"/>
              </a:rPr>
              <a:t>Already shipped: use your own physical deck. Only the card's name is ever sent.</a:t>
            </a:r>
            <a:endParaRPr lang="en-US" sz="1350" dirty="0"/>
          </a:p>
        </p:txBody>
      </p:sp>
      <p:sp>
        <p:nvSpPr>
          <p:cNvPr id="25" name="Text 19"/>
          <p:cNvSpPr txBox="1"/>
          <p:nvPr/>
        </p:nvSpPr>
        <p:spPr>
          <a:xfrm>
            <a:off x="9262872" y="6473952"/>
            <a:ext cx="2377440" cy="274320"/>
          </a:xfrm>
          <a:prstGeom prst="rect">
            <a:avLst/>
          </a:prstGeom>
          <a:noFill/>
          <a:ln/>
        </p:spPr>
        <p:txBody>
          <a:bodyPr wrap="square" lIns="0" tIns="0" rIns="0" bIns="0" rtlCol="0" anchor="ctr"/>
          <a:lstStyle/>
          <a:p>
            <a:pPr marL="0" indent="0" algn="r">
              <a:buNone/>
            </a:pPr>
            <a:r>
              <a:rPr lang="en-US" sz="1000" dirty="0">
                <a:solidFill>
                  <a:srgbClr val="5E5678"/>
                </a:solidFill>
                <a:latin typeface="Calibri" pitchFamily="34" charset="0"/>
                <a:ea typeface="Calibri" pitchFamily="34" charset="-122"/>
                <a:cs typeface="Calibri" pitchFamily="34" charset="-120"/>
              </a:rPr>
              <a:t>AI Tarot Projection  ·  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231C40"/>
        </a:solidFill>
        <a:effectLst/>
      </p:bgPr>
    </p:bg>
    <p:spTree>
      <p:nvGrpSpPr>
        <p:cNvPr id="1" name=""/>
        <p:cNvGrpSpPr/>
        <p:nvPr/>
      </p:nvGrpSpPr>
      <p:grpSpPr>
        <a:xfrm>
          <a:off x="0" y="0"/>
          <a:ext cx="0" cy="0"/>
          <a:chOff x="0" y="0"/>
          <a:chExt cx="0" cy="0"/>
        </a:xfrm>
      </p:grpSpPr>
      <p:pic>
        <p:nvPicPr>
          <p:cNvPr id="2" name="Image 0" descr="/mnt/user-data/uploads/ai-tarot-projection/data/Cards-jpg/17-TheStar.jpg"/>
          <p:cNvPicPr>
            <a:picLocks noChangeAspect="1"/>
          </p:cNvPicPr>
          <p:nvPr/>
        </p:nvPicPr>
        <p:blipFill>
          <a:blip r:embed="rId3"/>
          <a:stretch>
            <a:fillRect/>
          </a:stretch>
        </p:blipFill>
        <p:spPr>
          <a:xfrm>
            <a:off x="8732520" y="1554480"/>
            <a:ext cx="2148840" cy="3776472"/>
          </a:xfrm>
          <a:prstGeom prst="rect">
            <a:avLst/>
          </a:prstGeom>
        </p:spPr>
      </p:pic>
      <p:sp>
        <p:nvSpPr>
          <p:cNvPr id="3" name="Text 0"/>
          <p:cNvSpPr txBox="1"/>
          <p:nvPr/>
        </p:nvSpPr>
        <p:spPr>
          <a:xfrm>
            <a:off x="822960" y="2103120"/>
            <a:ext cx="7589520" cy="1645920"/>
          </a:xfrm>
          <a:prstGeom prst="rect">
            <a:avLst/>
          </a:prstGeom>
          <a:noFill/>
          <a:ln/>
        </p:spPr>
        <p:txBody>
          <a:bodyPr wrap="square" lIns="0" tIns="0" rIns="0" bIns="0" rtlCol="0" anchor="ctr"/>
          <a:lstStyle/>
          <a:p>
            <a:pPr marL="0" indent="0">
              <a:lnSpc>
                <a:spcPct val="112000"/>
              </a:lnSpc>
              <a:buNone/>
            </a:pPr>
            <a:r>
              <a:rPr lang="en-US" sz="3100" b="1" i="1" dirty="0">
                <a:solidFill>
                  <a:srgbClr val="FFFFFF"/>
                </a:solidFill>
                <a:latin typeface="Cambria" pitchFamily="34" charset="0"/>
                <a:ea typeface="Cambria" pitchFamily="34" charset="-122"/>
                <a:cs typeface="Cambria" pitchFamily="34" charset="-120"/>
              </a:rPr>
              <a:t>“One card stays with the deck today;</a:t>
            </a:r>
            <a:endParaRPr lang="en-US" sz="3100" dirty="0"/>
          </a:p>
          <a:p>
            <a:pPr marL="0" indent="0">
              <a:lnSpc>
                <a:spcPct val="112000"/>
              </a:lnSpc>
              <a:buNone/>
            </a:pPr>
            <a:r>
              <a:rPr lang="en-US" sz="3100" b="1" i="1" dirty="0">
                <a:solidFill>
                  <a:srgbClr val="FFFFFF"/>
                </a:solidFill>
                <a:latin typeface="Cambria" pitchFamily="34" charset="0"/>
                <a:ea typeface="Cambria" pitchFamily="34" charset="-122"/>
                <a:cs typeface="Cambria" pitchFamily="34" charset="-120"/>
              </a:rPr>
              <a:t>it'll be there when you come back.”</a:t>
            </a:r>
            <a:endParaRPr lang="en-US" sz="3100" dirty="0"/>
          </a:p>
        </p:txBody>
      </p:sp>
      <p:sp>
        <p:nvSpPr>
          <p:cNvPr id="4" name="Text 1"/>
          <p:cNvSpPr txBox="1"/>
          <p:nvPr/>
        </p:nvSpPr>
        <p:spPr>
          <a:xfrm>
            <a:off x="822960" y="4114800"/>
            <a:ext cx="6400800" cy="457200"/>
          </a:xfrm>
          <a:prstGeom prst="rect">
            <a:avLst/>
          </a:prstGeom>
          <a:noFill/>
          <a:ln/>
        </p:spPr>
        <p:txBody>
          <a:bodyPr wrap="square" lIns="0" tIns="0" rIns="0" bIns="0" rtlCol="0" anchor="ctr"/>
          <a:lstStyle/>
          <a:p>
            <a:pPr marL="0" indent="0">
              <a:buNone/>
            </a:pPr>
            <a:r>
              <a:rPr lang="en-US" sz="1800" b="1" dirty="0">
                <a:solidFill>
                  <a:srgbClr val="D9B45E"/>
                </a:solidFill>
                <a:latin typeface="Calibri" pitchFamily="34" charset="0"/>
                <a:ea typeface="Calibri" pitchFamily="34" charset="-122"/>
                <a:cs typeface="Calibri" pitchFamily="34" charset="-120"/>
              </a:rPr>
              <a:t>AI Tarot Projection</a:t>
            </a:r>
            <a:endParaRPr lang="en-US" sz="1800" dirty="0"/>
          </a:p>
        </p:txBody>
      </p:sp>
      <p:sp>
        <p:nvSpPr>
          <p:cNvPr id="5" name="Text 2"/>
          <p:cNvSpPr txBox="1"/>
          <p:nvPr/>
        </p:nvSpPr>
        <p:spPr>
          <a:xfrm>
            <a:off x="822960" y="4617720"/>
            <a:ext cx="7132320" cy="914400"/>
          </a:xfrm>
          <a:prstGeom prst="rect">
            <a:avLst/>
          </a:prstGeom>
          <a:noFill/>
          <a:ln/>
        </p:spPr>
        <p:txBody>
          <a:bodyPr wrap="square" lIns="0" tIns="0" rIns="0" bIns="0" rtlCol="0" anchor="ctr"/>
          <a:lstStyle/>
          <a:p>
            <a:pPr marL="0" indent="0">
              <a:lnSpc>
                <a:spcPct val="118000"/>
              </a:lnSpc>
              <a:buNone/>
            </a:pPr>
            <a:r>
              <a:rPr lang="en-US" sz="1500" dirty="0">
                <a:solidFill>
                  <a:srgbClr val="A79FC4"/>
                </a:solidFill>
                <a:latin typeface="Calibri" pitchFamily="34" charset="0"/>
                <a:ea typeface="Calibri" pitchFamily="34" charset="-122"/>
                <a:cs typeface="Calibri" pitchFamily="34" charset="-120"/>
              </a:rPr>
              <a:t>Open source. Runs on your own key. Stores nothing, anywhere.</a:t>
            </a:r>
            <a:endParaRPr lang="en-US" sz="1500" dirty="0"/>
          </a:p>
          <a:p>
            <a:pPr marL="0" indent="0">
              <a:lnSpc>
                <a:spcPct val="118000"/>
              </a:lnSpc>
              <a:buNone/>
            </a:pPr>
            <a:r>
              <a:rPr lang="en-US" sz="1500" dirty="0">
                <a:solidFill>
                  <a:srgbClr val="A79FC4"/>
                </a:solidFill>
                <a:latin typeface="Calibri" pitchFamily="34" charset="0"/>
                <a:ea typeface="Calibri" pitchFamily="34" charset="-122"/>
                <a:cs typeface="Calibri" pitchFamily="34" charset="-120"/>
              </a:rPr>
              <a:t>The deck never tells you anything. It gets you to say it.</a:t>
            </a:r>
            <a:endParaRPr lang="en-US" sz="1500" dirty="0"/>
          </a:p>
        </p:txBody>
      </p:sp>
      <p:sp>
        <p:nvSpPr>
          <p:cNvPr id="6" name="Text 3"/>
          <p:cNvSpPr txBox="1"/>
          <p:nvPr/>
        </p:nvSpPr>
        <p:spPr>
          <a:xfrm>
            <a:off x="822960" y="5852160"/>
            <a:ext cx="3657600" cy="365760"/>
          </a:xfrm>
          <a:prstGeom prst="rect">
            <a:avLst/>
          </a:prstGeom>
          <a:noFill/>
          <a:ln/>
        </p:spPr>
        <p:txBody>
          <a:bodyPr wrap="square" lIns="0" tIns="0" rIns="0" bIns="0" rtlCol="0" anchor="ctr"/>
          <a:lstStyle/>
          <a:p>
            <a:pPr marL="0" indent="0">
              <a:buNone/>
            </a:pPr>
            <a:r>
              <a:rPr lang="en-US" sz="1300" b="1" kern="0" spc="300" dirty="0">
                <a:solidFill>
                  <a:srgbClr val="D9B45E"/>
                </a:solidFill>
                <a:latin typeface="Calibri" pitchFamily="34" charset="0"/>
                <a:ea typeface="Calibri" pitchFamily="34" charset="-122"/>
                <a:cs typeface="Calibri" pitchFamily="34" charset="-120"/>
              </a:rPr>
              <a:t>Thank you</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2837</Words>
  <Application>Microsoft Macintosh PowerPoint</Application>
  <PresentationFormat>Widescreen</PresentationFormat>
  <Paragraphs>177</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Tarot Projection</dc:title>
  <dc:subject>PptxGenJS Presentation</dc:subject>
  <dc:creator>strikeoo</dc:creator>
  <cp:lastModifiedBy>Yuanchen Wang</cp:lastModifiedBy>
  <cp:revision>2</cp:revision>
  <dcterms:created xsi:type="dcterms:W3CDTF">2026-08-31T21:05:04Z</dcterms:created>
  <dcterms:modified xsi:type="dcterms:W3CDTF">2026-08-31T21:14:51Z</dcterms:modified>
</cp:coreProperties>
</file>